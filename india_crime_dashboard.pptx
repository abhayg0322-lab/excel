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66" r:id="rId5"/>
    <p:sldId id="267"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8448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1B5A"/>
        </a:solidFill>
        <a:effectLst/>
      </p:bgPr>
    </p:bg>
    <p:spTree>
      <p:nvGrpSpPr>
        <p:cNvPr id="1" name=""/>
        <p:cNvGrpSpPr/>
        <p:nvPr/>
      </p:nvGrpSpPr>
      <p:grpSpPr>
        <a:xfrm>
          <a:off x="0" y="0"/>
          <a:ext cx="0" cy="0"/>
          <a:chOff x="0" y="0"/>
          <a:chExt cx="0" cy="0"/>
        </a:xfrm>
      </p:grpSpPr>
      <p:sp>
        <p:nvSpPr>
          <p:cNvPr id="2" name="Shape 0"/>
          <p:cNvSpPr/>
          <p:nvPr/>
        </p:nvSpPr>
        <p:spPr>
          <a:xfrm>
            <a:off x="28136" y="70340"/>
            <a:ext cx="9144000" cy="5143500"/>
          </a:xfrm>
          <a:prstGeom prst="rect">
            <a:avLst/>
          </a:prstGeom>
          <a:solidFill>
            <a:srgbClr val="6B3FA0">
              <a:alpha val="30000"/>
            </a:srgbClr>
          </a:solidFill>
          <a:ln w="12700">
            <a:solidFill>
              <a:srgbClr val="6B3FA0">
                <a:alpha val="0"/>
              </a:srgbClr>
            </a:solidFill>
            <a:prstDash val="solid"/>
          </a:ln>
        </p:spPr>
        <p:txBody>
          <a:bodyPr/>
          <a:lstStyle/>
          <a:p>
            <a:endParaRPr lang="en-US" dirty="0"/>
          </a:p>
        </p:txBody>
      </p:sp>
      <p:sp>
        <p:nvSpPr>
          <p:cNvPr id="3" name="Shape 1"/>
          <p:cNvSpPr/>
          <p:nvPr/>
        </p:nvSpPr>
        <p:spPr>
          <a:xfrm>
            <a:off x="0" y="0"/>
            <a:ext cx="9144000" cy="54864"/>
          </a:xfrm>
          <a:prstGeom prst="rect">
            <a:avLst/>
          </a:prstGeom>
          <a:solidFill>
            <a:srgbClr val="E07B39"/>
          </a:solidFill>
          <a:ln w="12700">
            <a:solidFill>
              <a:srgbClr val="E07B39"/>
            </a:solidFill>
            <a:prstDash val="solid"/>
          </a:ln>
        </p:spPr>
      </p:sp>
      <p:sp>
        <p:nvSpPr>
          <p:cNvPr id="4" name="Shape 2"/>
          <p:cNvSpPr/>
          <p:nvPr/>
        </p:nvSpPr>
        <p:spPr>
          <a:xfrm>
            <a:off x="0" y="5088636"/>
            <a:ext cx="9144000" cy="54864"/>
          </a:xfrm>
          <a:prstGeom prst="rect">
            <a:avLst/>
          </a:prstGeom>
          <a:solidFill>
            <a:srgbClr val="E07B39"/>
          </a:solidFill>
          <a:ln w="12700">
            <a:solidFill>
              <a:srgbClr val="E07B39"/>
            </a:solidFill>
            <a:prstDash val="solid"/>
          </a:ln>
        </p:spPr>
      </p:sp>
      <p:sp>
        <p:nvSpPr>
          <p:cNvPr id="5" name="Shape 3"/>
          <p:cNvSpPr/>
          <p:nvPr/>
        </p:nvSpPr>
        <p:spPr>
          <a:xfrm>
            <a:off x="0" y="54864"/>
            <a:ext cx="164592" cy="5033772"/>
          </a:xfrm>
          <a:prstGeom prst="rect">
            <a:avLst/>
          </a:prstGeom>
          <a:solidFill>
            <a:srgbClr val="6B3FA0"/>
          </a:solidFill>
          <a:ln w="12700">
            <a:solidFill>
              <a:srgbClr val="6B3FA0"/>
            </a:solidFill>
            <a:prstDash val="solid"/>
          </a:ln>
        </p:spPr>
      </p:sp>
      <p:sp>
        <p:nvSpPr>
          <p:cNvPr id="6" name="Text 4"/>
          <p:cNvSpPr/>
          <p:nvPr/>
        </p:nvSpPr>
        <p:spPr>
          <a:xfrm>
            <a:off x="457200" y="1005840"/>
            <a:ext cx="8229600" cy="914400"/>
          </a:xfrm>
          <a:prstGeom prst="rect">
            <a:avLst/>
          </a:prstGeom>
          <a:noFill/>
          <a:ln/>
        </p:spPr>
        <p:txBody>
          <a:bodyPr wrap="square" rtlCol="0" anchor="ctr"/>
          <a:lstStyle/>
          <a:p>
            <a:pPr marL="0" indent="0" algn="ctr">
              <a:buNone/>
            </a:pPr>
            <a:r>
              <a:rPr lang="en-US" sz="4800" b="1" kern="0" spc="300" dirty="0">
                <a:solidFill>
                  <a:srgbClr val="FFFFFF"/>
                </a:solidFill>
                <a:latin typeface="Calibri" pitchFamily="34" charset="0"/>
                <a:ea typeface="Calibri" pitchFamily="34" charset="-122"/>
                <a:cs typeface="Calibri" pitchFamily="34" charset="-120"/>
              </a:rPr>
              <a:t>INDIA CRIME DATA</a:t>
            </a:r>
            <a:endParaRPr lang="en-US" sz="4800" dirty="0"/>
          </a:p>
        </p:txBody>
      </p:sp>
      <p:sp>
        <p:nvSpPr>
          <p:cNvPr id="7" name="Text 5"/>
          <p:cNvSpPr/>
          <p:nvPr/>
        </p:nvSpPr>
        <p:spPr>
          <a:xfrm>
            <a:off x="457200" y="1828800"/>
            <a:ext cx="8229600" cy="731520"/>
          </a:xfrm>
          <a:prstGeom prst="rect">
            <a:avLst/>
          </a:prstGeom>
          <a:noFill/>
          <a:ln/>
        </p:spPr>
        <p:txBody>
          <a:bodyPr wrap="square" rtlCol="0" anchor="ctr"/>
          <a:lstStyle/>
          <a:p>
            <a:pPr marL="0" indent="0" algn="ctr">
              <a:buNone/>
            </a:pPr>
            <a:r>
              <a:rPr lang="en-US" sz="3600" b="1" kern="0" spc="200" dirty="0">
                <a:solidFill>
                  <a:srgbClr val="F5C518"/>
                </a:solidFill>
                <a:latin typeface="Calibri" pitchFamily="34" charset="0"/>
                <a:ea typeface="Calibri" pitchFamily="34" charset="-122"/>
                <a:cs typeface="Calibri" pitchFamily="34" charset="-120"/>
              </a:rPr>
              <a:t>DASHBOARD 2018–2023</a:t>
            </a:r>
            <a:endParaRPr lang="en-US" sz="3600" dirty="0"/>
          </a:p>
        </p:txBody>
      </p:sp>
      <p:sp>
        <p:nvSpPr>
          <p:cNvPr id="8" name="Shape 6"/>
          <p:cNvSpPr/>
          <p:nvPr/>
        </p:nvSpPr>
        <p:spPr>
          <a:xfrm>
            <a:off x="2286000" y="2606040"/>
            <a:ext cx="4572000" cy="36576"/>
          </a:xfrm>
          <a:prstGeom prst="rect">
            <a:avLst/>
          </a:prstGeom>
          <a:solidFill>
            <a:srgbClr val="F0956A"/>
          </a:solidFill>
          <a:ln w="12700">
            <a:solidFill>
              <a:srgbClr val="F0956A"/>
            </a:solidFill>
            <a:prstDash val="solid"/>
          </a:ln>
        </p:spPr>
      </p:sp>
      <p:sp>
        <p:nvSpPr>
          <p:cNvPr id="9" name="Text 7"/>
          <p:cNvSpPr/>
          <p:nvPr/>
        </p:nvSpPr>
        <p:spPr>
          <a:xfrm>
            <a:off x="457200" y="2834640"/>
            <a:ext cx="8229600"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Presented By: </a:t>
            </a:r>
            <a:r>
              <a:rPr lang="en-US" b="1" dirty="0">
                <a:solidFill>
                  <a:srgbClr val="FFFFFF"/>
                </a:solidFill>
                <a:latin typeface="Calibri" pitchFamily="34" charset="0"/>
                <a:ea typeface="Calibri" pitchFamily="34" charset="-122"/>
                <a:cs typeface="Calibri" pitchFamily="34" charset="-120"/>
              </a:rPr>
              <a:t>Abhay Gupta</a:t>
            </a:r>
            <a:endParaRPr lang="en-US" sz="1800" dirty="0"/>
          </a:p>
        </p:txBody>
      </p:sp>
      <p:sp>
        <p:nvSpPr>
          <p:cNvPr id="10" name="Text 8"/>
          <p:cNvSpPr/>
          <p:nvPr/>
        </p:nvSpPr>
        <p:spPr>
          <a:xfrm>
            <a:off x="457200" y="3246120"/>
            <a:ext cx="8229600" cy="320040"/>
          </a:xfrm>
          <a:prstGeom prst="rect">
            <a:avLst/>
          </a:prstGeom>
          <a:noFill/>
          <a:ln/>
        </p:spPr>
        <p:txBody>
          <a:bodyPr wrap="square" rtlCol="0" anchor="ctr"/>
          <a:lstStyle/>
          <a:p>
            <a:pPr marL="0" indent="0" algn="ctr">
              <a:buNone/>
            </a:pPr>
            <a:r>
              <a:rPr lang="en-US" sz="1400" dirty="0">
                <a:solidFill>
                  <a:srgbClr val="E8E0F0"/>
                </a:solidFill>
                <a:latin typeface="Calibri" pitchFamily="34" charset="0"/>
                <a:ea typeface="Calibri" pitchFamily="34" charset="-122"/>
                <a:cs typeface="Calibri" pitchFamily="34" charset="-120"/>
              </a:rPr>
              <a:t>Context: Evaluation Presentation</a:t>
            </a:r>
            <a:endParaRPr lang="en-US" sz="1400" dirty="0"/>
          </a:p>
        </p:txBody>
      </p:sp>
      <p:sp>
        <p:nvSpPr>
          <p:cNvPr id="11" name="Text 9"/>
          <p:cNvSpPr/>
          <p:nvPr/>
        </p:nvSpPr>
        <p:spPr>
          <a:xfrm>
            <a:off x="457200" y="3611880"/>
            <a:ext cx="8229600" cy="320040"/>
          </a:xfrm>
          <a:prstGeom prst="rect">
            <a:avLst/>
          </a:prstGeom>
          <a:noFill/>
          <a:ln/>
        </p:spPr>
        <p:txBody>
          <a:bodyPr wrap="square" rtlCol="0" anchor="ctr"/>
          <a:lstStyle/>
          <a:p>
            <a:pPr marL="0" indent="0" algn="ctr">
              <a:buNone/>
            </a:pPr>
            <a:r>
              <a:rPr lang="en-US" sz="1400" dirty="0">
                <a:solidFill>
                  <a:srgbClr val="F0956A"/>
                </a:solidFill>
                <a:latin typeface="Calibri" pitchFamily="34" charset="0"/>
                <a:ea typeface="Calibri" pitchFamily="34" charset="-122"/>
                <a:cs typeface="Calibri" pitchFamily="34" charset="-120"/>
              </a:rPr>
              <a:t>Date: 10/03/2026</a:t>
            </a:r>
            <a:endParaRPr lang="en-US" sz="1400" dirty="0"/>
          </a:p>
        </p:txBody>
      </p:sp>
      <p:sp>
        <p:nvSpPr>
          <p:cNvPr id="12" name="Shape 10"/>
          <p:cNvSpPr/>
          <p:nvPr/>
        </p:nvSpPr>
        <p:spPr>
          <a:xfrm>
            <a:off x="3474720" y="4434840"/>
            <a:ext cx="109728" cy="109728"/>
          </a:xfrm>
          <a:prstGeom prst="ellipse">
            <a:avLst/>
          </a:prstGeom>
          <a:solidFill>
            <a:srgbClr val="9B59B6"/>
          </a:solidFill>
          <a:ln w="12700">
            <a:solidFill>
              <a:srgbClr val="9B59B6"/>
            </a:solidFill>
            <a:prstDash val="solid"/>
          </a:ln>
        </p:spPr>
      </p:sp>
      <p:sp>
        <p:nvSpPr>
          <p:cNvPr id="13" name="Shape 11"/>
          <p:cNvSpPr/>
          <p:nvPr/>
        </p:nvSpPr>
        <p:spPr>
          <a:xfrm>
            <a:off x="3886200" y="4434840"/>
            <a:ext cx="109728" cy="109728"/>
          </a:xfrm>
          <a:prstGeom prst="ellipse">
            <a:avLst/>
          </a:prstGeom>
          <a:solidFill>
            <a:srgbClr val="9B59B6"/>
          </a:solidFill>
          <a:ln w="12700">
            <a:solidFill>
              <a:srgbClr val="9B59B6"/>
            </a:solidFill>
            <a:prstDash val="solid"/>
          </a:ln>
        </p:spPr>
      </p:sp>
      <p:sp>
        <p:nvSpPr>
          <p:cNvPr id="14" name="Shape 12"/>
          <p:cNvSpPr/>
          <p:nvPr/>
        </p:nvSpPr>
        <p:spPr>
          <a:xfrm>
            <a:off x="4297680" y="4434840"/>
            <a:ext cx="109728" cy="109728"/>
          </a:xfrm>
          <a:prstGeom prst="ellipse">
            <a:avLst/>
          </a:prstGeom>
          <a:solidFill>
            <a:srgbClr val="E07B39"/>
          </a:solidFill>
          <a:ln w="12700">
            <a:solidFill>
              <a:srgbClr val="E07B39"/>
            </a:solidFill>
            <a:prstDash val="solid"/>
          </a:ln>
        </p:spPr>
      </p:sp>
      <p:sp>
        <p:nvSpPr>
          <p:cNvPr id="15" name="Shape 13"/>
          <p:cNvSpPr/>
          <p:nvPr/>
        </p:nvSpPr>
        <p:spPr>
          <a:xfrm>
            <a:off x="4709160" y="4434840"/>
            <a:ext cx="109728" cy="109728"/>
          </a:xfrm>
          <a:prstGeom prst="ellipse">
            <a:avLst/>
          </a:prstGeom>
          <a:solidFill>
            <a:srgbClr val="9B59B6"/>
          </a:solidFill>
          <a:ln w="12700">
            <a:solidFill>
              <a:srgbClr val="9B59B6"/>
            </a:solidFill>
            <a:prstDash val="solid"/>
          </a:ln>
        </p:spPr>
      </p:sp>
      <p:sp>
        <p:nvSpPr>
          <p:cNvPr id="16" name="Shape 14"/>
          <p:cNvSpPr/>
          <p:nvPr/>
        </p:nvSpPr>
        <p:spPr>
          <a:xfrm>
            <a:off x="5120640" y="4434840"/>
            <a:ext cx="109728" cy="109728"/>
          </a:xfrm>
          <a:prstGeom prst="ellipse">
            <a:avLst/>
          </a:prstGeom>
          <a:solidFill>
            <a:srgbClr val="9B59B6"/>
          </a:solidFill>
          <a:ln w="12700">
            <a:solidFill>
              <a:srgbClr val="9B59B6"/>
            </a:solidFill>
            <a:prstDash val="solid"/>
          </a:ln>
        </p:spPr>
      </p:sp>
      <p:sp>
        <p:nvSpPr>
          <p:cNvPr id="17" name="Shape 15"/>
          <p:cNvSpPr/>
          <p:nvPr/>
        </p:nvSpPr>
        <p:spPr>
          <a:xfrm>
            <a:off x="5532120" y="4434840"/>
            <a:ext cx="109728" cy="109728"/>
          </a:xfrm>
          <a:prstGeom prst="ellipse">
            <a:avLst/>
          </a:prstGeom>
          <a:solidFill>
            <a:srgbClr val="9B59B6"/>
          </a:solidFill>
          <a:ln w="12700">
            <a:solidFill>
              <a:srgbClr val="9B59B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D1B5A"/>
          </a:solidFill>
          <a:ln w="12700">
            <a:solidFill>
              <a:srgbClr val="2D1B5A"/>
            </a:solidFill>
            <a:prstDash val="solid"/>
          </a:ln>
        </p:spPr>
      </p:sp>
      <p:sp>
        <p:nvSpPr>
          <p:cNvPr id="3" name="Text 1"/>
          <p:cNvSpPr/>
          <p:nvPr/>
        </p:nvSpPr>
        <p:spPr>
          <a:xfrm>
            <a:off x="365760" y="73152"/>
            <a:ext cx="8412480" cy="530352"/>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Problem Statement / Overview</a:t>
            </a:r>
            <a:endParaRPr lang="en-US" sz="2200" dirty="0"/>
          </a:p>
        </p:txBody>
      </p:sp>
      <p:sp>
        <p:nvSpPr>
          <p:cNvPr id="4" name="Shape 2"/>
          <p:cNvSpPr/>
          <p:nvPr/>
        </p:nvSpPr>
        <p:spPr>
          <a:xfrm>
            <a:off x="0" y="0"/>
            <a:ext cx="109728" cy="685800"/>
          </a:xfrm>
          <a:prstGeom prst="rect">
            <a:avLst/>
          </a:prstGeom>
          <a:solidFill>
            <a:srgbClr val="E07B39"/>
          </a:solidFill>
          <a:ln w="12700">
            <a:solidFill>
              <a:srgbClr val="E07B39"/>
            </a:solidFill>
            <a:prstDash val="solid"/>
          </a:ln>
        </p:spPr>
      </p:sp>
      <p:sp>
        <p:nvSpPr>
          <p:cNvPr id="5" name="Shape 3"/>
          <p:cNvSpPr/>
          <p:nvPr/>
        </p:nvSpPr>
        <p:spPr>
          <a:xfrm>
            <a:off x="274320" y="914400"/>
            <a:ext cx="4023360" cy="3840480"/>
          </a:xfrm>
          <a:prstGeom prst="rect">
            <a:avLst/>
          </a:prstGeom>
          <a:solidFill>
            <a:srgbClr val="2D1B5A"/>
          </a:solidFill>
          <a:ln w="12700">
            <a:solidFill>
              <a:srgbClr val="2D1B5A"/>
            </a:solidFill>
            <a:prstDash val="solid"/>
          </a:ln>
          <a:effectLst>
            <a:outerShdw blurRad="101600" dist="38100" dir="8100000" algn="bl" rotWithShape="0">
              <a:srgbClr val="000000">
                <a:alpha val="15000"/>
              </a:srgbClr>
            </a:outerShdw>
          </a:effectLst>
        </p:spPr>
      </p:sp>
      <p:sp>
        <p:nvSpPr>
          <p:cNvPr id="6" name="Shape 4"/>
          <p:cNvSpPr/>
          <p:nvPr/>
        </p:nvSpPr>
        <p:spPr>
          <a:xfrm>
            <a:off x="274320" y="914400"/>
            <a:ext cx="4023360" cy="411480"/>
          </a:xfrm>
          <a:prstGeom prst="rect">
            <a:avLst/>
          </a:prstGeom>
          <a:solidFill>
            <a:srgbClr val="E07B39"/>
          </a:solidFill>
          <a:ln w="12700">
            <a:solidFill>
              <a:srgbClr val="E07B39"/>
            </a:solidFill>
            <a:prstDash val="solid"/>
          </a:ln>
        </p:spPr>
      </p:sp>
      <p:sp>
        <p:nvSpPr>
          <p:cNvPr id="7" name="Text 5"/>
          <p:cNvSpPr/>
          <p:nvPr/>
        </p:nvSpPr>
        <p:spPr>
          <a:xfrm>
            <a:off x="320040" y="914400"/>
            <a:ext cx="393192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Problem Statement</a:t>
            </a:r>
            <a:endParaRPr lang="en-US" sz="1400" dirty="0"/>
          </a:p>
        </p:txBody>
      </p:sp>
      <p:sp>
        <p:nvSpPr>
          <p:cNvPr id="8" name="Text 6"/>
          <p:cNvSpPr/>
          <p:nvPr/>
        </p:nvSpPr>
        <p:spPr>
          <a:xfrm>
            <a:off x="457200" y="1417320"/>
            <a:ext cx="3657600" cy="3200400"/>
          </a:xfrm>
          <a:prstGeom prst="rect">
            <a:avLst/>
          </a:prstGeom>
          <a:noFill/>
          <a:ln/>
        </p:spPr>
        <p:txBody>
          <a:bodyPr wrap="square" rtlCol="0" anchor="t"/>
          <a:lstStyle/>
          <a:p>
            <a:pPr marL="0" indent="0">
              <a:buNone/>
            </a:pPr>
            <a:r>
              <a:rPr lang="en-US" sz="1200" dirty="0">
                <a:solidFill>
                  <a:srgbClr val="E8E0F0"/>
                </a:solidFill>
                <a:latin typeface="Calibri" pitchFamily="34" charset="0"/>
                <a:ea typeface="Calibri" pitchFamily="34" charset="-122"/>
                <a:cs typeface="Calibri" pitchFamily="34" charset="-120"/>
              </a:rPr>
              <a:t>India's crime data from 2018–2023 generates large volumes of records across multiple crime types, states, and years.</a:t>
            </a:r>
            <a:endParaRPr lang="en-US" sz="1200" dirty="0"/>
          </a:p>
          <a:p>
            <a:pPr marL="0" indent="0">
              <a:buNone/>
            </a:pPr>
            <a:r>
              <a:rPr lang="en-US" sz="1200" dirty="0">
                <a:solidFill>
                  <a:srgbClr val="E8E0F0"/>
                </a:solidFill>
                <a:latin typeface="Calibri" pitchFamily="34" charset="0"/>
                <a:ea typeface="Calibri" pitchFamily="34" charset="-122"/>
                <a:cs typeface="Calibri" pitchFamily="34" charset="-120"/>
              </a:rPr>
              <a:t> </a:t>
            </a:r>
            <a:endParaRPr lang="en-US" sz="1200" dirty="0"/>
          </a:p>
          <a:p>
            <a:pPr marL="0" indent="0">
              <a:buNone/>
            </a:pPr>
            <a:r>
              <a:rPr lang="en-US" sz="1200" dirty="0">
                <a:solidFill>
                  <a:srgbClr val="E8E0F0"/>
                </a:solidFill>
                <a:latin typeface="Calibri" pitchFamily="34" charset="0"/>
                <a:ea typeface="Calibri" pitchFamily="34" charset="-122"/>
                <a:cs typeface="Calibri" pitchFamily="34" charset="-120"/>
              </a:rPr>
              <a:t>An Excel dashboard is required to organize, analyse, and visualize this data.</a:t>
            </a:r>
            <a:endParaRPr lang="en-US" sz="1200" dirty="0"/>
          </a:p>
          <a:p>
            <a:pPr marL="0" indent="0">
              <a:buNone/>
            </a:pPr>
            <a:r>
              <a:rPr lang="en-US" sz="1200" dirty="0">
                <a:solidFill>
                  <a:srgbClr val="E8E0F0"/>
                </a:solidFill>
                <a:latin typeface="Calibri" pitchFamily="34" charset="0"/>
                <a:ea typeface="Calibri" pitchFamily="34" charset="-122"/>
                <a:cs typeface="Calibri" pitchFamily="34" charset="-120"/>
              </a:rPr>
              <a:t> </a:t>
            </a:r>
            <a:endParaRPr lang="en-US" sz="1200" dirty="0"/>
          </a:p>
          <a:p>
            <a:pPr marL="0" indent="0">
              <a:buNone/>
            </a:pPr>
            <a:r>
              <a:rPr lang="en-US" sz="1200" dirty="0">
                <a:solidFill>
                  <a:srgbClr val="E8E0F0"/>
                </a:solidFill>
                <a:latin typeface="Calibri" pitchFamily="34" charset="0"/>
                <a:ea typeface="Calibri" pitchFamily="34" charset="-122"/>
                <a:cs typeface="Calibri" pitchFamily="34" charset="-120"/>
              </a:rPr>
              <a:t>The dashboard should present key metrics such as total cases by crime type, state-wise distribution, annual trends, crime rate comparisons, and year-on-year changes — enabling stakeholders to quickly track trends.</a:t>
            </a:r>
            <a:endParaRPr lang="en-US" sz="1200" dirty="0"/>
          </a:p>
        </p:txBody>
      </p:sp>
      <p:sp>
        <p:nvSpPr>
          <p:cNvPr id="9" name="Shape 7"/>
          <p:cNvSpPr/>
          <p:nvPr/>
        </p:nvSpPr>
        <p:spPr>
          <a:xfrm>
            <a:off x="4846320" y="914400"/>
            <a:ext cx="4023360" cy="3840480"/>
          </a:xfrm>
          <a:prstGeom prst="rect">
            <a:avLst/>
          </a:prstGeom>
          <a:solidFill>
            <a:srgbClr val="2D1B5A"/>
          </a:solidFill>
          <a:ln w="12700">
            <a:solidFill>
              <a:srgbClr val="2D1B5A"/>
            </a:solidFill>
            <a:prstDash val="solid"/>
          </a:ln>
          <a:effectLst>
            <a:outerShdw blurRad="101600" dist="38100" dir="8100000" algn="bl" rotWithShape="0">
              <a:srgbClr val="000000">
                <a:alpha val="15000"/>
              </a:srgbClr>
            </a:outerShdw>
          </a:effectLst>
        </p:spPr>
      </p:sp>
      <p:sp>
        <p:nvSpPr>
          <p:cNvPr id="10" name="Shape 8"/>
          <p:cNvSpPr/>
          <p:nvPr/>
        </p:nvSpPr>
        <p:spPr>
          <a:xfrm>
            <a:off x="4846320" y="914400"/>
            <a:ext cx="4023360" cy="411480"/>
          </a:xfrm>
          <a:prstGeom prst="rect">
            <a:avLst/>
          </a:prstGeom>
          <a:solidFill>
            <a:srgbClr val="6B3FA0"/>
          </a:solidFill>
          <a:ln w="12700">
            <a:solidFill>
              <a:srgbClr val="6B3FA0"/>
            </a:solidFill>
            <a:prstDash val="solid"/>
          </a:ln>
        </p:spPr>
      </p:sp>
      <p:sp>
        <p:nvSpPr>
          <p:cNvPr id="11" name="Text 9"/>
          <p:cNvSpPr/>
          <p:nvPr/>
        </p:nvSpPr>
        <p:spPr>
          <a:xfrm>
            <a:off x="4892040" y="914400"/>
            <a:ext cx="393192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Overview</a:t>
            </a:r>
            <a:endParaRPr lang="en-US" sz="1400" dirty="0"/>
          </a:p>
        </p:txBody>
      </p:sp>
      <p:sp>
        <p:nvSpPr>
          <p:cNvPr id="12" name="Text 10"/>
          <p:cNvSpPr/>
          <p:nvPr/>
        </p:nvSpPr>
        <p:spPr>
          <a:xfrm>
            <a:off x="4983480" y="1417320"/>
            <a:ext cx="3749040" cy="3200400"/>
          </a:xfrm>
          <a:prstGeom prst="rect">
            <a:avLst/>
          </a:prstGeom>
          <a:noFill/>
          <a:ln/>
        </p:spPr>
        <p:txBody>
          <a:bodyPr wrap="square" rtlCol="0" anchor="t"/>
          <a:lstStyle/>
          <a:p>
            <a:pPr marL="342900" indent="-342900">
              <a:spcAft>
                <a:spcPts val="400"/>
              </a:spcAft>
              <a:buSzPct val="100000"/>
              <a:buChar char="•"/>
            </a:pPr>
            <a:r>
              <a:rPr lang="en-US" sz="1150" dirty="0">
                <a:solidFill>
                  <a:srgbClr val="E8E0F0"/>
                </a:solidFill>
                <a:latin typeface="Calibri" pitchFamily="34" charset="0"/>
                <a:ea typeface="Calibri" pitchFamily="34" charset="-122"/>
                <a:cs typeface="Calibri" pitchFamily="34" charset="-120"/>
              </a:rPr>
              <a:t>Analyse 3,507,511 total cases across 10 states and 6 crime types</a:t>
            </a:r>
            <a:endParaRPr lang="en-US" sz="1150" dirty="0"/>
          </a:p>
          <a:p>
            <a:pPr marL="342900" indent="-342900">
              <a:spcAft>
                <a:spcPts val="400"/>
              </a:spcAft>
              <a:buSzPct val="100000"/>
              <a:buChar char="•"/>
            </a:pPr>
            <a:r>
              <a:rPr lang="en-US" sz="1150" dirty="0">
                <a:solidFill>
                  <a:srgbClr val="E8E0F0"/>
                </a:solidFill>
                <a:latin typeface="Calibri" pitchFamily="34" charset="0"/>
                <a:ea typeface="Calibri" pitchFamily="34" charset="-122"/>
                <a:cs typeface="Calibri" pitchFamily="34" charset="-120"/>
              </a:rPr>
              <a:t>Identify trends in crime categories over 6 years (2018–2023)</a:t>
            </a:r>
            <a:endParaRPr lang="en-US" sz="1150" dirty="0"/>
          </a:p>
          <a:p>
            <a:pPr marL="342900" indent="-342900">
              <a:spcAft>
                <a:spcPts val="400"/>
              </a:spcAft>
              <a:buSzPct val="100000"/>
              <a:buChar char="•"/>
            </a:pPr>
            <a:r>
              <a:rPr lang="en-US" sz="1150" dirty="0">
                <a:solidFill>
                  <a:srgbClr val="E8E0F0"/>
                </a:solidFill>
                <a:latin typeface="Calibri" pitchFamily="34" charset="0"/>
                <a:ea typeface="Calibri" pitchFamily="34" charset="-122"/>
                <a:cs typeface="Calibri" pitchFamily="34" charset="-120"/>
              </a:rPr>
              <a:t>Understand state-wise crime patterns and crime rates per 100k population</a:t>
            </a:r>
            <a:endParaRPr lang="en-US" sz="1150" dirty="0"/>
          </a:p>
          <a:p>
            <a:pPr marL="342900" indent="-342900">
              <a:spcAft>
                <a:spcPts val="400"/>
              </a:spcAft>
              <a:buSzPct val="100000"/>
              <a:buChar char="•"/>
            </a:pPr>
            <a:r>
              <a:rPr lang="en-US" sz="1150" dirty="0">
                <a:solidFill>
                  <a:srgbClr val="E8E0F0"/>
                </a:solidFill>
                <a:latin typeface="Calibri" pitchFamily="34" charset="0"/>
                <a:ea typeface="Calibri" pitchFamily="34" charset="-122"/>
                <a:cs typeface="Calibri" pitchFamily="34" charset="-120"/>
              </a:rPr>
              <a:t>Compare violent vs. property crimes and evaluate annual outcomes</a:t>
            </a:r>
            <a:endParaRPr lang="en-US" sz="1150" dirty="0"/>
          </a:p>
          <a:p>
            <a:pPr marL="342900" indent="-342900">
              <a:spcAft>
                <a:spcPts val="400"/>
              </a:spcAft>
              <a:buSzPct val="100000"/>
              <a:buChar char="•"/>
            </a:pPr>
            <a:r>
              <a:rPr lang="en-US" sz="1150" dirty="0">
                <a:solidFill>
                  <a:srgbClr val="E8E0F0"/>
                </a:solidFill>
                <a:latin typeface="Calibri" pitchFamily="34" charset="0"/>
                <a:ea typeface="Calibri" pitchFamily="34" charset="-122"/>
                <a:cs typeface="Calibri" pitchFamily="34" charset="-120"/>
              </a:rPr>
              <a:t>Enable stakeholders to spot high-crime states and emerging threats</a:t>
            </a:r>
            <a:endParaRPr lang="en-US" sz="1150" dirty="0"/>
          </a:p>
          <a:p>
            <a:pPr marL="342900" indent="-342900">
              <a:spcAft>
                <a:spcPts val="400"/>
              </a:spcAft>
              <a:buSzPct val="100000"/>
              <a:buChar char="•"/>
            </a:pPr>
            <a:r>
              <a:rPr lang="en-US" sz="1150" dirty="0">
                <a:solidFill>
                  <a:srgbClr val="E8E0F0"/>
                </a:solidFill>
                <a:latin typeface="Calibri" pitchFamily="34" charset="0"/>
                <a:ea typeface="Calibri" pitchFamily="34" charset="-122"/>
                <a:cs typeface="Calibri" pitchFamily="34" charset="-120"/>
              </a:rPr>
              <a:t>Support data-driven policy decisions using visual analytics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D1B5A"/>
          </a:solidFill>
          <a:ln w="12700">
            <a:solidFill>
              <a:srgbClr val="2D1B5A"/>
            </a:solidFill>
            <a:prstDash val="solid"/>
          </a:ln>
        </p:spPr>
      </p:sp>
      <p:sp>
        <p:nvSpPr>
          <p:cNvPr id="3" name="Shape 1"/>
          <p:cNvSpPr/>
          <p:nvPr/>
        </p:nvSpPr>
        <p:spPr>
          <a:xfrm>
            <a:off x="0" y="0"/>
            <a:ext cx="109728" cy="685800"/>
          </a:xfrm>
          <a:prstGeom prst="rect">
            <a:avLst/>
          </a:prstGeom>
          <a:solidFill>
            <a:srgbClr val="E07B39"/>
          </a:solidFill>
          <a:ln w="12700">
            <a:solidFill>
              <a:srgbClr val="E07B39"/>
            </a:solidFill>
            <a:prstDash val="solid"/>
          </a:ln>
        </p:spPr>
      </p:sp>
      <p:sp>
        <p:nvSpPr>
          <p:cNvPr id="4" name="Text 2"/>
          <p:cNvSpPr/>
          <p:nvPr/>
        </p:nvSpPr>
        <p:spPr>
          <a:xfrm>
            <a:off x="365760" y="73152"/>
            <a:ext cx="8412480" cy="530352"/>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Overview</a:t>
            </a:r>
            <a:endParaRPr lang="en-US" sz="2200" dirty="0"/>
          </a:p>
        </p:txBody>
      </p:sp>
      <p:sp>
        <p:nvSpPr>
          <p:cNvPr id="5" name="Shape 3"/>
          <p:cNvSpPr/>
          <p:nvPr/>
        </p:nvSpPr>
        <p:spPr>
          <a:xfrm>
            <a:off x="274320" y="868680"/>
            <a:ext cx="1920240" cy="1097280"/>
          </a:xfrm>
          <a:prstGeom prst="rect">
            <a:avLst/>
          </a:prstGeom>
          <a:solidFill>
            <a:srgbClr val="2D1B5A"/>
          </a:solidFill>
          <a:ln w="12700">
            <a:solidFill>
              <a:srgbClr val="2D1B5A"/>
            </a:solidFill>
            <a:prstDash val="solid"/>
          </a:ln>
          <a:effectLst>
            <a:outerShdw blurRad="101600" dist="38100" dir="8100000" algn="bl" rotWithShape="0">
              <a:srgbClr val="000000">
                <a:alpha val="15000"/>
              </a:srgbClr>
            </a:outerShdw>
          </a:effectLst>
        </p:spPr>
      </p:sp>
      <p:sp>
        <p:nvSpPr>
          <p:cNvPr id="6" name="Text 4"/>
          <p:cNvSpPr/>
          <p:nvPr/>
        </p:nvSpPr>
        <p:spPr>
          <a:xfrm>
            <a:off x="320040" y="896112"/>
            <a:ext cx="1828800" cy="5943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3.5M+</a:t>
            </a:r>
            <a:endParaRPr lang="en-US" sz="3000" dirty="0"/>
          </a:p>
        </p:txBody>
      </p:sp>
      <p:sp>
        <p:nvSpPr>
          <p:cNvPr id="7" name="Text 5"/>
          <p:cNvSpPr/>
          <p:nvPr/>
        </p:nvSpPr>
        <p:spPr>
          <a:xfrm>
            <a:off x="320040" y="1463040"/>
            <a:ext cx="1828800" cy="256032"/>
          </a:xfrm>
          <a:prstGeom prst="rect">
            <a:avLst/>
          </a:prstGeom>
          <a:noFill/>
          <a:ln/>
        </p:spPr>
        <p:txBody>
          <a:bodyPr wrap="square" rtlCol="0" anchor="ctr"/>
          <a:lstStyle/>
          <a:p>
            <a:pPr marL="0" indent="0" algn="ctr">
              <a:buNone/>
            </a:pPr>
            <a:r>
              <a:rPr lang="en-US" sz="1100" b="1" dirty="0">
                <a:solidFill>
                  <a:srgbClr val="F5C518"/>
                </a:solidFill>
                <a:latin typeface="Calibri" pitchFamily="34" charset="0"/>
                <a:ea typeface="Calibri" pitchFamily="34" charset="-122"/>
                <a:cs typeface="Calibri" pitchFamily="34" charset="-120"/>
              </a:rPr>
              <a:t>Total Cases</a:t>
            </a:r>
            <a:endParaRPr lang="en-US" sz="1100" dirty="0"/>
          </a:p>
        </p:txBody>
      </p:sp>
      <p:sp>
        <p:nvSpPr>
          <p:cNvPr id="8" name="Text 6"/>
          <p:cNvSpPr/>
          <p:nvPr/>
        </p:nvSpPr>
        <p:spPr>
          <a:xfrm>
            <a:off x="320040" y="1709928"/>
            <a:ext cx="1828800" cy="201168"/>
          </a:xfrm>
          <a:prstGeom prst="rect">
            <a:avLst/>
          </a:prstGeom>
          <a:noFill/>
          <a:ln/>
        </p:spPr>
        <p:txBody>
          <a:bodyPr wrap="square" rtlCol="0" anchor="ctr"/>
          <a:lstStyle/>
          <a:p>
            <a:pPr marL="0" indent="0" algn="ctr">
              <a:buNone/>
            </a:pPr>
            <a:r>
              <a:rPr lang="en-US" sz="900" dirty="0">
                <a:solidFill>
                  <a:srgbClr val="E8E0F0"/>
                </a:solidFill>
                <a:latin typeface="Calibri" pitchFamily="34" charset="0"/>
                <a:ea typeface="Calibri" pitchFamily="34" charset="-122"/>
                <a:cs typeface="Calibri" pitchFamily="34" charset="-120"/>
              </a:rPr>
              <a:t>2018–2023</a:t>
            </a:r>
            <a:endParaRPr lang="en-US" sz="900" dirty="0"/>
          </a:p>
        </p:txBody>
      </p:sp>
      <p:sp>
        <p:nvSpPr>
          <p:cNvPr id="9" name="Shape 7"/>
          <p:cNvSpPr/>
          <p:nvPr/>
        </p:nvSpPr>
        <p:spPr>
          <a:xfrm>
            <a:off x="2423160" y="868680"/>
            <a:ext cx="1920240" cy="1097280"/>
          </a:xfrm>
          <a:prstGeom prst="rect">
            <a:avLst/>
          </a:prstGeom>
          <a:solidFill>
            <a:srgbClr val="6B3FA0"/>
          </a:solidFill>
          <a:ln w="12700">
            <a:solidFill>
              <a:srgbClr val="6B3FA0"/>
            </a:solidFill>
            <a:prstDash val="solid"/>
          </a:ln>
          <a:effectLst>
            <a:outerShdw blurRad="101600" dist="38100" dir="8100000" algn="bl" rotWithShape="0">
              <a:srgbClr val="000000">
                <a:alpha val="15000"/>
              </a:srgbClr>
            </a:outerShdw>
          </a:effectLst>
        </p:spPr>
      </p:sp>
      <p:sp>
        <p:nvSpPr>
          <p:cNvPr id="10" name="Text 8"/>
          <p:cNvSpPr/>
          <p:nvPr/>
        </p:nvSpPr>
        <p:spPr>
          <a:xfrm>
            <a:off x="2468880" y="896112"/>
            <a:ext cx="1828800" cy="5943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10</a:t>
            </a:r>
            <a:endParaRPr lang="en-US" sz="3000" dirty="0"/>
          </a:p>
        </p:txBody>
      </p:sp>
      <p:sp>
        <p:nvSpPr>
          <p:cNvPr id="11" name="Text 9"/>
          <p:cNvSpPr/>
          <p:nvPr/>
        </p:nvSpPr>
        <p:spPr>
          <a:xfrm>
            <a:off x="2468880" y="1463040"/>
            <a:ext cx="1828800" cy="256032"/>
          </a:xfrm>
          <a:prstGeom prst="rect">
            <a:avLst/>
          </a:prstGeom>
          <a:noFill/>
          <a:ln/>
        </p:spPr>
        <p:txBody>
          <a:bodyPr wrap="square" rtlCol="0" anchor="ctr"/>
          <a:lstStyle/>
          <a:p>
            <a:pPr marL="0" indent="0" algn="ctr">
              <a:buNone/>
            </a:pPr>
            <a:r>
              <a:rPr lang="en-US" sz="1100" b="1" dirty="0">
                <a:solidFill>
                  <a:srgbClr val="F5C518"/>
                </a:solidFill>
                <a:latin typeface="Calibri" pitchFamily="34" charset="0"/>
                <a:ea typeface="Calibri" pitchFamily="34" charset="-122"/>
                <a:cs typeface="Calibri" pitchFamily="34" charset="-120"/>
              </a:rPr>
              <a:t>States Covered</a:t>
            </a:r>
            <a:endParaRPr lang="en-US" sz="1100" dirty="0"/>
          </a:p>
        </p:txBody>
      </p:sp>
      <p:sp>
        <p:nvSpPr>
          <p:cNvPr id="12" name="Text 10"/>
          <p:cNvSpPr/>
          <p:nvPr/>
        </p:nvSpPr>
        <p:spPr>
          <a:xfrm>
            <a:off x="2468880" y="1709928"/>
            <a:ext cx="1828800" cy="201168"/>
          </a:xfrm>
          <a:prstGeom prst="rect">
            <a:avLst/>
          </a:prstGeom>
          <a:noFill/>
          <a:ln/>
        </p:spPr>
        <p:txBody>
          <a:bodyPr wrap="square" rtlCol="0" anchor="ctr"/>
          <a:lstStyle/>
          <a:p>
            <a:pPr marL="0" indent="0" algn="ctr">
              <a:buNone/>
            </a:pPr>
            <a:r>
              <a:rPr lang="en-US" sz="900" dirty="0">
                <a:solidFill>
                  <a:srgbClr val="E8E0F0"/>
                </a:solidFill>
                <a:latin typeface="Calibri" pitchFamily="34" charset="0"/>
                <a:ea typeface="Calibri" pitchFamily="34" charset="-122"/>
                <a:cs typeface="Calibri" pitchFamily="34" charset="-120"/>
              </a:rPr>
              <a:t>Major States</a:t>
            </a:r>
            <a:endParaRPr lang="en-US" sz="900" dirty="0"/>
          </a:p>
        </p:txBody>
      </p:sp>
      <p:sp>
        <p:nvSpPr>
          <p:cNvPr id="13" name="Shape 11"/>
          <p:cNvSpPr/>
          <p:nvPr/>
        </p:nvSpPr>
        <p:spPr>
          <a:xfrm>
            <a:off x="4572000" y="868680"/>
            <a:ext cx="1920240" cy="1097280"/>
          </a:xfrm>
          <a:prstGeom prst="rect">
            <a:avLst/>
          </a:prstGeom>
          <a:solidFill>
            <a:srgbClr val="E07B39"/>
          </a:solidFill>
          <a:ln w="12700">
            <a:solidFill>
              <a:srgbClr val="E07B39"/>
            </a:solidFill>
            <a:prstDash val="solid"/>
          </a:ln>
          <a:effectLst>
            <a:outerShdw blurRad="101600" dist="38100" dir="8100000" algn="bl" rotWithShape="0">
              <a:srgbClr val="000000">
                <a:alpha val="15000"/>
              </a:srgbClr>
            </a:outerShdw>
          </a:effectLst>
        </p:spPr>
      </p:sp>
      <p:sp>
        <p:nvSpPr>
          <p:cNvPr id="14" name="Text 12"/>
          <p:cNvSpPr/>
          <p:nvPr/>
        </p:nvSpPr>
        <p:spPr>
          <a:xfrm>
            <a:off x="4617720" y="896112"/>
            <a:ext cx="1828800" cy="5943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6</a:t>
            </a:r>
            <a:endParaRPr lang="en-US" sz="3000" dirty="0"/>
          </a:p>
        </p:txBody>
      </p:sp>
      <p:sp>
        <p:nvSpPr>
          <p:cNvPr id="15" name="Text 13"/>
          <p:cNvSpPr/>
          <p:nvPr/>
        </p:nvSpPr>
        <p:spPr>
          <a:xfrm>
            <a:off x="4617720" y="1463040"/>
            <a:ext cx="1828800" cy="256032"/>
          </a:xfrm>
          <a:prstGeom prst="rect">
            <a:avLst/>
          </a:prstGeom>
          <a:noFill/>
          <a:ln/>
        </p:spPr>
        <p:txBody>
          <a:bodyPr wrap="square" rtlCol="0" anchor="ctr"/>
          <a:lstStyle/>
          <a:p>
            <a:pPr marL="0" indent="0" algn="ctr">
              <a:buNone/>
            </a:pPr>
            <a:r>
              <a:rPr lang="en-US" sz="1100" b="1" dirty="0">
                <a:solidFill>
                  <a:srgbClr val="F5C518"/>
                </a:solidFill>
                <a:latin typeface="Calibri" pitchFamily="34" charset="0"/>
                <a:ea typeface="Calibri" pitchFamily="34" charset="-122"/>
                <a:cs typeface="Calibri" pitchFamily="34" charset="-120"/>
              </a:rPr>
              <a:t>Crime Types</a:t>
            </a:r>
            <a:endParaRPr lang="en-US" sz="1100" dirty="0"/>
          </a:p>
        </p:txBody>
      </p:sp>
      <p:sp>
        <p:nvSpPr>
          <p:cNvPr id="16" name="Text 14"/>
          <p:cNvSpPr/>
          <p:nvPr/>
        </p:nvSpPr>
        <p:spPr>
          <a:xfrm>
            <a:off x="4617720" y="1709928"/>
            <a:ext cx="1828800" cy="201168"/>
          </a:xfrm>
          <a:prstGeom prst="rect">
            <a:avLst/>
          </a:prstGeom>
          <a:noFill/>
          <a:ln/>
        </p:spPr>
        <p:txBody>
          <a:bodyPr wrap="square" rtlCol="0" anchor="ctr"/>
          <a:lstStyle/>
          <a:p>
            <a:pPr marL="0" indent="0" algn="ctr">
              <a:buNone/>
            </a:pPr>
            <a:r>
              <a:rPr lang="en-US" sz="900" dirty="0">
                <a:solidFill>
                  <a:srgbClr val="E8E0F0"/>
                </a:solidFill>
                <a:latin typeface="Calibri" pitchFamily="34" charset="0"/>
                <a:ea typeface="Calibri" pitchFamily="34" charset="-122"/>
                <a:cs typeface="Calibri" pitchFamily="34" charset="-120"/>
              </a:rPr>
              <a:t>Categories</a:t>
            </a:r>
            <a:endParaRPr lang="en-US" sz="900" dirty="0"/>
          </a:p>
        </p:txBody>
      </p:sp>
      <p:sp>
        <p:nvSpPr>
          <p:cNvPr id="17" name="Shape 15"/>
          <p:cNvSpPr/>
          <p:nvPr/>
        </p:nvSpPr>
        <p:spPr>
          <a:xfrm>
            <a:off x="6720840" y="868680"/>
            <a:ext cx="1920240" cy="1097280"/>
          </a:xfrm>
          <a:prstGeom prst="rect">
            <a:avLst/>
          </a:prstGeom>
          <a:solidFill>
            <a:srgbClr val="E74C8B"/>
          </a:solidFill>
          <a:ln w="12700">
            <a:solidFill>
              <a:srgbClr val="E74C8B"/>
            </a:solidFill>
            <a:prstDash val="solid"/>
          </a:ln>
          <a:effectLst>
            <a:outerShdw blurRad="101600" dist="38100" dir="8100000" algn="bl" rotWithShape="0">
              <a:srgbClr val="000000">
                <a:alpha val="15000"/>
              </a:srgbClr>
            </a:outerShdw>
          </a:effectLst>
        </p:spPr>
      </p:sp>
      <p:sp>
        <p:nvSpPr>
          <p:cNvPr id="18" name="Text 16"/>
          <p:cNvSpPr/>
          <p:nvPr/>
        </p:nvSpPr>
        <p:spPr>
          <a:xfrm>
            <a:off x="6766560" y="896112"/>
            <a:ext cx="1828800" cy="5943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6</a:t>
            </a:r>
            <a:endParaRPr lang="en-US" sz="3000" dirty="0"/>
          </a:p>
        </p:txBody>
      </p:sp>
      <p:sp>
        <p:nvSpPr>
          <p:cNvPr id="19" name="Text 17"/>
          <p:cNvSpPr/>
          <p:nvPr/>
        </p:nvSpPr>
        <p:spPr>
          <a:xfrm>
            <a:off x="6766560" y="1463040"/>
            <a:ext cx="1828800" cy="256032"/>
          </a:xfrm>
          <a:prstGeom prst="rect">
            <a:avLst/>
          </a:prstGeom>
          <a:noFill/>
          <a:ln/>
        </p:spPr>
        <p:txBody>
          <a:bodyPr wrap="square" rtlCol="0" anchor="ctr"/>
          <a:lstStyle/>
          <a:p>
            <a:pPr marL="0" indent="0" algn="ctr">
              <a:buNone/>
            </a:pPr>
            <a:r>
              <a:rPr lang="en-US" sz="1100" b="1" dirty="0">
                <a:solidFill>
                  <a:srgbClr val="F5C518"/>
                </a:solidFill>
                <a:latin typeface="Calibri" pitchFamily="34" charset="0"/>
                <a:ea typeface="Calibri" pitchFamily="34" charset="-122"/>
                <a:cs typeface="Calibri" pitchFamily="34" charset="-120"/>
              </a:rPr>
              <a:t>Years Analyzed</a:t>
            </a:r>
            <a:endParaRPr lang="en-US" sz="1100" dirty="0"/>
          </a:p>
        </p:txBody>
      </p:sp>
      <p:sp>
        <p:nvSpPr>
          <p:cNvPr id="20" name="Text 18"/>
          <p:cNvSpPr/>
          <p:nvPr/>
        </p:nvSpPr>
        <p:spPr>
          <a:xfrm>
            <a:off x="6766560" y="1709928"/>
            <a:ext cx="1828800" cy="201168"/>
          </a:xfrm>
          <a:prstGeom prst="rect">
            <a:avLst/>
          </a:prstGeom>
          <a:noFill/>
          <a:ln/>
        </p:spPr>
        <p:txBody>
          <a:bodyPr wrap="square" rtlCol="0" anchor="ctr"/>
          <a:lstStyle/>
          <a:p>
            <a:pPr marL="0" indent="0" algn="ctr">
              <a:buNone/>
            </a:pPr>
            <a:r>
              <a:rPr lang="en-US" sz="900" dirty="0">
                <a:solidFill>
                  <a:srgbClr val="E8E0F0"/>
                </a:solidFill>
                <a:latin typeface="Calibri" pitchFamily="34" charset="0"/>
                <a:ea typeface="Calibri" pitchFamily="34" charset="-122"/>
                <a:cs typeface="Calibri" pitchFamily="34" charset="-120"/>
              </a:rPr>
              <a:t>2018 to 2023</a:t>
            </a:r>
            <a:endParaRPr lang="en-US" sz="900" dirty="0"/>
          </a:p>
        </p:txBody>
      </p:sp>
      <p:sp>
        <p:nvSpPr>
          <p:cNvPr id="21" name="Shape 19"/>
          <p:cNvSpPr/>
          <p:nvPr/>
        </p:nvSpPr>
        <p:spPr>
          <a:xfrm>
            <a:off x="274320" y="2194560"/>
            <a:ext cx="3931920" cy="2651760"/>
          </a:xfrm>
          <a:prstGeom prst="rect">
            <a:avLst/>
          </a:prstGeom>
          <a:solidFill>
            <a:srgbClr val="FFFFFF"/>
          </a:solidFill>
          <a:ln w="12700">
            <a:solidFill>
              <a:srgbClr val="E8E0F0"/>
            </a:solidFill>
            <a:prstDash val="solid"/>
          </a:ln>
          <a:effectLst>
            <a:outerShdw blurRad="101600" dist="38100" dir="8100000" algn="bl" rotWithShape="0">
              <a:srgbClr val="000000">
                <a:alpha val="15000"/>
              </a:srgbClr>
            </a:outerShdw>
          </a:effectLst>
        </p:spPr>
      </p:sp>
      <p:sp>
        <p:nvSpPr>
          <p:cNvPr id="22" name="Shape 20"/>
          <p:cNvSpPr/>
          <p:nvPr/>
        </p:nvSpPr>
        <p:spPr>
          <a:xfrm>
            <a:off x="274320" y="2194560"/>
            <a:ext cx="3931920" cy="365760"/>
          </a:xfrm>
          <a:prstGeom prst="rect">
            <a:avLst/>
          </a:prstGeom>
          <a:solidFill>
            <a:srgbClr val="6B3FA0"/>
          </a:solidFill>
          <a:ln w="12700">
            <a:solidFill>
              <a:srgbClr val="6B3FA0"/>
            </a:solidFill>
            <a:prstDash val="solid"/>
          </a:ln>
        </p:spPr>
      </p:sp>
      <p:sp>
        <p:nvSpPr>
          <p:cNvPr id="23" name="Text 21"/>
          <p:cNvSpPr/>
          <p:nvPr/>
        </p:nvSpPr>
        <p:spPr>
          <a:xfrm>
            <a:off x="365760" y="2194560"/>
            <a:ext cx="37490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Source &amp; Size</a:t>
            </a:r>
            <a:endParaRPr lang="en-US" sz="1300" dirty="0"/>
          </a:p>
        </p:txBody>
      </p:sp>
      <p:sp>
        <p:nvSpPr>
          <p:cNvPr id="24" name="Text 22"/>
          <p:cNvSpPr/>
          <p:nvPr/>
        </p:nvSpPr>
        <p:spPr>
          <a:xfrm>
            <a:off x="457200" y="2651760"/>
            <a:ext cx="3657600" cy="347472"/>
          </a:xfrm>
          <a:prstGeom prst="rect">
            <a:avLst/>
          </a:prstGeom>
          <a:noFill/>
          <a:ln/>
        </p:spPr>
        <p:txBody>
          <a:bodyPr wrap="square" rtlCol="0" anchor="ctr"/>
          <a:lstStyle/>
          <a:p>
            <a:pPr marL="0" indent="0">
              <a:buNone/>
            </a:pPr>
            <a:r>
              <a:rPr lang="en-US" sz="1200" b="1" dirty="0">
                <a:solidFill>
                  <a:srgbClr val="2D1B5A"/>
                </a:solidFill>
                <a:latin typeface="Calibri" pitchFamily="34" charset="0"/>
                <a:ea typeface="Calibri" pitchFamily="34" charset="-122"/>
                <a:cs typeface="Calibri" pitchFamily="34" charset="-120"/>
              </a:rPr>
              <a:t>Source: </a:t>
            </a:r>
            <a:r>
              <a:rPr lang="en-US" sz="1200" b="1" dirty="0">
                <a:solidFill>
                  <a:srgbClr val="6B5B8A"/>
                </a:solidFill>
                <a:latin typeface="Calibri" pitchFamily="34" charset="0"/>
                <a:ea typeface="Calibri" pitchFamily="34" charset="-122"/>
                <a:cs typeface="Calibri" pitchFamily="34" charset="-120"/>
              </a:rPr>
              <a:t>Kaggle</a:t>
            </a:r>
            <a:endParaRPr lang="en-US" sz="1200" dirty="0"/>
          </a:p>
        </p:txBody>
      </p:sp>
      <p:sp>
        <p:nvSpPr>
          <p:cNvPr id="25" name="Text 23"/>
          <p:cNvSpPr/>
          <p:nvPr/>
        </p:nvSpPr>
        <p:spPr>
          <a:xfrm>
            <a:off x="457200" y="3054096"/>
            <a:ext cx="3657600" cy="347472"/>
          </a:xfrm>
          <a:prstGeom prst="rect">
            <a:avLst/>
          </a:prstGeom>
          <a:noFill/>
          <a:ln/>
        </p:spPr>
        <p:txBody>
          <a:bodyPr wrap="square" rtlCol="0" anchor="ctr"/>
          <a:lstStyle/>
          <a:p>
            <a:pPr marL="0" indent="0">
              <a:buNone/>
            </a:pPr>
            <a:r>
              <a:rPr lang="en-US" sz="1200" b="1" dirty="0">
                <a:solidFill>
                  <a:srgbClr val="2D1B5A"/>
                </a:solidFill>
                <a:latin typeface="Calibri" pitchFamily="34" charset="0"/>
                <a:ea typeface="Calibri" pitchFamily="34" charset="-122"/>
                <a:cs typeface="Calibri" pitchFamily="34" charset="-120"/>
              </a:rPr>
              <a:t>Rows: </a:t>
            </a:r>
            <a:r>
              <a:rPr lang="en-US" sz="1200" dirty="0">
                <a:solidFill>
                  <a:srgbClr val="6B5B8A"/>
                </a:solidFill>
                <a:latin typeface="Calibri" pitchFamily="34" charset="0"/>
                <a:ea typeface="Calibri" pitchFamily="34" charset="-122"/>
                <a:cs typeface="Calibri" pitchFamily="34" charset="-120"/>
              </a:rPr>
              <a:t>360 records</a:t>
            </a:r>
            <a:endParaRPr lang="en-US" sz="1200" dirty="0"/>
          </a:p>
        </p:txBody>
      </p:sp>
      <p:sp>
        <p:nvSpPr>
          <p:cNvPr id="26" name="Text 24"/>
          <p:cNvSpPr/>
          <p:nvPr/>
        </p:nvSpPr>
        <p:spPr>
          <a:xfrm>
            <a:off x="457200" y="3456432"/>
            <a:ext cx="3657600" cy="347472"/>
          </a:xfrm>
          <a:prstGeom prst="rect">
            <a:avLst/>
          </a:prstGeom>
          <a:noFill/>
          <a:ln/>
        </p:spPr>
        <p:txBody>
          <a:bodyPr wrap="square" rtlCol="0" anchor="ctr"/>
          <a:lstStyle/>
          <a:p>
            <a:pPr marL="0" indent="0">
              <a:buNone/>
            </a:pPr>
            <a:r>
              <a:rPr lang="en-US" sz="1200" b="1" dirty="0">
                <a:solidFill>
                  <a:srgbClr val="2D1B5A"/>
                </a:solidFill>
                <a:latin typeface="Calibri" pitchFamily="34" charset="0"/>
                <a:ea typeface="Calibri" pitchFamily="34" charset="-122"/>
                <a:cs typeface="Calibri" pitchFamily="34" charset="-120"/>
              </a:rPr>
              <a:t>Columns: </a:t>
            </a:r>
            <a:r>
              <a:rPr lang="en-US" sz="1200" dirty="0">
                <a:solidFill>
                  <a:srgbClr val="6B5B8A"/>
                </a:solidFill>
                <a:latin typeface="Calibri" pitchFamily="34" charset="0"/>
                <a:ea typeface="Calibri" pitchFamily="34" charset="-122"/>
                <a:cs typeface="Calibri" pitchFamily="34" charset="-120"/>
              </a:rPr>
              <a:t>6 fields</a:t>
            </a:r>
            <a:endParaRPr lang="en-US" sz="1200" dirty="0"/>
          </a:p>
        </p:txBody>
      </p:sp>
      <p:sp>
        <p:nvSpPr>
          <p:cNvPr id="27" name="Text 25"/>
          <p:cNvSpPr/>
          <p:nvPr/>
        </p:nvSpPr>
        <p:spPr>
          <a:xfrm>
            <a:off x="457200" y="3858768"/>
            <a:ext cx="3657600" cy="347472"/>
          </a:xfrm>
          <a:prstGeom prst="rect">
            <a:avLst/>
          </a:prstGeom>
          <a:noFill/>
          <a:ln/>
        </p:spPr>
        <p:txBody>
          <a:bodyPr wrap="square" rtlCol="0" anchor="ctr"/>
          <a:lstStyle/>
          <a:p>
            <a:pPr marL="0" indent="0">
              <a:buNone/>
            </a:pPr>
            <a:r>
              <a:rPr lang="en-US" sz="1200" b="1" dirty="0">
                <a:solidFill>
                  <a:srgbClr val="2D1B5A"/>
                </a:solidFill>
                <a:latin typeface="Calibri" pitchFamily="34" charset="0"/>
                <a:ea typeface="Calibri" pitchFamily="34" charset="-122"/>
                <a:cs typeface="Calibri" pitchFamily="34" charset="-120"/>
              </a:rPr>
              <a:t>Period: </a:t>
            </a:r>
            <a:r>
              <a:rPr lang="en-US" sz="1200" dirty="0">
                <a:solidFill>
                  <a:srgbClr val="6B5B8A"/>
                </a:solidFill>
                <a:latin typeface="Calibri" pitchFamily="34" charset="0"/>
                <a:ea typeface="Calibri" pitchFamily="34" charset="-122"/>
                <a:cs typeface="Calibri" pitchFamily="34" charset="-120"/>
              </a:rPr>
              <a:t>2018 – 2023 (6 years)</a:t>
            </a:r>
            <a:endParaRPr lang="en-US" sz="1200" dirty="0"/>
          </a:p>
        </p:txBody>
      </p:sp>
      <p:sp>
        <p:nvSpPr>
          <p:cNvPr id="28" name="Text 26"/>
          <p:cNvSpPr/>
          <p:nvPr/>
        </p:nvSpPr>
        <p:spPr>
          <a:xfrm>
            <a:off x="457200" y="4261104"/>
            <a:ext cx="3657600" cy="347472"/>
          </a:xfrm>
          <a:prstGeom prst="rect">
            <a:avLst/>
          </a:prstGeom>
          <a:noFill/>
          <a:ln/>
        </p:spPr>
        <p:txBody>
          <a:bodyPr wrap="square" rtlCol="0" anchor="ctr"/>
          <a:lstStyle/>
          <a:p>
            <a:pPr marL="0" indent="0">
              <a:buNone/>
            </a:pPr>
            <a:r>
              <a:rPr lang="en-US" sz="1200" b="1" dirty="0">
                <a:solidFill>
                  <a:srgbClr val="2D1B5A"/>
                </a:solidFill>
                <a:latin typeface="Calibri" pitchFamily="34" charset="0"/>
                <a:ea typeface="Calibri" pitchFamily="34" charset="-122"/>
                <a:cs typeface="Calibri" pitchFamily="34" charset="-120"/>
              </a:rPr>
              <a:t>States: </a:t>
            </a:r>
            <a:r>
              <a:rPr lang="en-US" sz="1200" dirty="0">
                <a:solidFill>
                  <a:srgbClr val="6B5B8A"/>
                </a:solidFill>
                <a:latin typeface="Calibri" pitchFamily="34" charset="0"/>
                <a:ea typeface="Calibri" pitchFamily="34" charset="-122"/>
                <a:cs typeface="Calibri" pitchFamily="34" charset="-120"/>
              </a:rPr>
              <a:t>10 major Indian states</a:t>
            </a:r>
            <a:endParaRPr lang="en-US" sz="1200" dirty="0"/>
          </a:p>
        </p:txBody>
      </p:sp>
      <p:sp>
        <p:nvSpPr>
          <p:cNvPr id="29" name="Shape 27"/>
          <p:cNvSpPr/>
          <p:nvPr/>
        </p:nvSpPr>
        <p:spPr>
          <a:xfrm>
            <a:off x="4846320" y="2194560"/>
            <a:ext cx="4023360" cy="2651760"/>
          </a:xfrm>
          <a:prstGeom prst="rect">
            <a:avLst/>
          </a:prstGeom>
          <a:solidFill>
            <a:srgbClr val="FFFFFF"/>
          </a:solidFill>
          <a:ln w="12700">
            <a:solidFill>
              <a:srgbClr val="E8E0F0"/>
            </a:solidFill>
            <a:prstDash val="solid"/>
          </a:ln>
          <a:effectLst>
            <a:outerShdw blurRad="101600" dist="38100" dir="8100000" algn="bl" rotWithShape="0">
              <a:srgbClr val="000000">
                <a:alpha val="15000"/>
              </a:srgbClr>
            </a:outerShdw>
          </a:effectLst>
        </p:spPr>
      </p:sp>
      <p:sp>
        <p:nvSpPr>
          <p:cNvPr id="30" name="Shape 28"/>
          <p:cNvSpPr/>
          <p:nvPr/>
        </p:nvSpPr>
        <p:spPr>
          <a:xfrm>
            <a:off x="4846320" y="2194560"/>
            <a:ext cx="4023360" cy="365760"/>
          </a:xfrm>
          <a:prstGeom prst="rect">
            <a:avLst/>
          </a:prstGeom>
          <a:solidFill>
            <a:srgbClr val="E07B39"/>
          </a:solidFill>
          <a:ln w="12700">
            <a:solidFill>
              <a:srgbClr val="E07B39"/>
            </a:solidFill>
            <a:prstDash val="solid"/>
          </a:ln>
        </p:spPr>
      </p:sp>
      <p:sp>
        <p:nvSpPr>
          <p:cNvPr id="31" name="Text 29"/>
          <p:cNvSpPr/>
          <p:nvPr/>
        </p:nvSpPr>
        <p:spPr>
          <a:xfrm>
            <a:off x="4937760" y="2194560"/>
            <a:ext cx="384048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Fields</a:t>
            </a:r>
            <a:endParaRPr lang="en-US" sz="1300" dirty="0"/>
          </a:p>
        </p:txBody>
      </p:sp>
      <p:sp>
        <p:nvSpPr>
          <p:cNvPr id="32" name="Text 30"/>
          <p:cNvSpPr/>
          <p:nvPr/>
        </p:nvSpPr>
        <p:spPr>
          <a:xfrm>
            <a:off x="4983480" y="2651760"/>
            <a:ext cx="3749040" cy="2103120"/>
          </a:xfrm>
          <a:prstGeom prst="rect">
            <a:avLst/>
          </a:prstGeom>
          <a:noFill/>
          <a:ln/>
        </p:spPr>
        <p:txBody>
          <a:bodyPr wrap="square" rtlCol="0" anchor="t"/>
          <a:lstStyle/>
          <a:p>
            <a:pPr marL="342900" indent="-342900">
              <a:spcAft>
                <a:spcPts val="500"/>
              </a:spcAft>
              <a:buSzPct val="100000"/>
              <a:buChar char="•"/>
            </a:pPr>
            <a:r>
              <a:rPr lang="en-US" sz="1200" dirty="0">
                <a:solidFill>
                  <a:srgbClr val="1A0A3A"/>
                </a:solidFill>
                <a:latin typeface="Calibri" pitchFamily="34" charset="0"/>
                <a:ea typeface="Calibri" pitchFamily="34" charset="-122"/>
                <a:cs typeface="Calibri" pitchFamily="34" charset="-120"/>
              </a:rPr>
              <a:t>Year</a:t>
            </a:r>
            <a:endParaRPr lang="en-US" sz="1200" dirty="0"/>
          </a:p>
          <a:p>
            <a:pPr marL="342900" indent="-342900">
              <a:spcAft>
                <a:spcPts val="500"/>
              </a:spcAft>
              <a:buSzPct val="100000"/>
              <a:buChar char="•"/>
            </a:pPr>
            <a:r>
              <a:rPr lang="en-US" sz="1200" dirty="0">
                <a:solidFill>
                  <a:srgbClr val="1A0A3A"/>
                </a:solidFill>
                <a:latin typeface="Calibri" pitchFamily="34" charset="0"/>
                <a:ea typeface="Calibri" pitchFamily="34" charset="-122"/>
                <a:cs typeface="Calibri" pitchFamily="34" charset="-120"/>
              </a:rPr>
              <a:t>State (10 states)</a:t>
            </a:r>
            <a:endParaRPr lang="en-US" sz="1200" dirty="0"/>
          </a:p>
          <a:p>
            <a:pPr marL="342900" indent="-342900">
              <a:spcAft>
                <a:spcPts val="500"/>
              </a:spcAft>
              <a:buSzPct val="100000"/>
              <a:buChar char="•"/>
            </a:pPr>
            <a:r>
              <a:rPr lang="en-US" sz="1200" dirty="0">
                <a:solidFill>
                  <a:srgbClr val="1A0A3A"/>
                </a:solidFill>
                <a:latin typeface="Calibri" pitchFamily="34" charset="0"/>
                <a:ea typeface="Calibri" pitchFamily="34" charset="-122"/>
                <a:cs typeface="Calibri" pitchFamily="34" charset="-120"/>
              </a:rPr>
              <a:t>Crime_Type (6 categories)</a:t>
            </a:r>
            <a:endParaRPr lang="en-US" sz="1200" dirty="0"/>
          </a:p>
          <a:p>
            <a:pPr marL="342900" indent="-342900">
              <a:spcAft>
                <a:spcPts val="500"/>
              </a:spcAft>
              <a:buSzPct val="100000"/>
              <a:buChar char="•"/>
            </a:pPr>
            <a:r>
              <a:rPr lang="en-US" sz="1200" dirty="0">
                <a:solidFill>
                  <a:srgbClr val="1A0A3A"/>
                </a:solidFill>
                <a:latin typeface="Calibri" pitchFamily="34" charset="0"/>
                <a:ea typeface="Calibri" pitchFamily="34" charset="-122"/>
                <a:cs typeface="Calibri" pitchFamily="34" charset="-120"/>
              </a:rPr>
              <a:t>Cases (count)</a:t>
            </a:r>
            <a:endParaRPr lang="en-US" sz="1200" dirty="0"/>
          </a:p>
          <a:p>
            <a:pPr marL="342900" indent="-342900">
              <a:spcAft>
                <a:spcPts val="500"/>
              </a:spcAft>
              <a:buSzPct val="100000"/>
              <a:buChar char="•"/>
            </a:pPr>
            <a:r>
              <a:rPr lang="en-US" sz="1200" dirty="0">
                <a:solidFill>
                  <a:srgbClr val="1A0A3A"/>
                </a:solidFill>
                <a:latin typeface="Calibri" pitchFamily="34" charset="0"/>
                <a:ea typeface="Calibri" pitchFamily="34" charset="-122"/>
                <a:cs typeface="Calibri" pitchFamily="34" charset="-120"/>
              </a:rPr>
              <a:t>Population</a:t>
            </a:r>
            <a:endParaRPr lang="en-US" sz="1200" dirty="0"/>
          </a:p>
          <a:p>
            <a:pPr marL="342900" indent="-342900">
              <a:spcAft>
                <a:spcPts val="500"/>
              </a:spcAft>
              <a:buSzPct val="100000"/>
              <a:buChar char="•"/>
            </a:pPr>
            <a:r>
              <a:rPr lang="en-US" sz="1200" dirty="0">
                <a:solidFill>
                  <a:srgbClr val="1A0A3A"/>
                </a:solidFill>
                <a:latin typeface="Calibri" pitchFamily="34" charset="0"/>
                <a:ea typeface="Calibri" pitchFamily="34" charset="-122"/>
                <a:cs typeface="Calibri" pitchFamily="34" charset="-120"/>
              </a:rPr>
              <a:t>Crime_Rate_per_100k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1">
    <p:bg>
      <p:bgPr>
        <a:solidFill>
          <a:srgbClr val="2D1B5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B3FA0">
              <a:alpha val="30000"/>
            </a:srgbClr>
          </a:solidFill>
          <a:ln w="12700">
            <a:solidFill>
              <a:srgbClr val="6B3FA0">
                <a:alpha val="0"/>
              </a:srgbClr>
            </a:solidFill>
            <a:prstDash val="solid"/>
          </a:ln>
        </p:spPr>
      </p:sp>
      <p:sp>
        <p:nvSpPr>
          <p:cNvPr id="3" name="Shape 1"/>
          <p:cNvSpPr/>
          <p:nvPr/>
        </p:nvSpPr>
        <p:spPr>
          <a:xfrm>
            <a:off x="0" y="0"/>
            <a:ext cx="9144000" cy="685800"/>
          </a:xfrm>
          <a:prstGeom prst="rect">
            <a:avLst/>
          </a:prstGeom>
          <a:solidFill>
            <a:srgbClr val="E07B39"/>
          </a:solidFill>
          <a:ln w="12700">
            <a:solidFill>
              <a:srgbClr val="E07B39"/>
            </a:solidFill>
            <a:prstDash val="solid"/>
          </a:ln>
        </p:spPr>
      </p:sp>
      <p:sp>
        <p:nvSpPr>
          <p:cNvPr id="4" name="Text 2"/>
          <p:cNvSpPr/>
          <p:nvPr/>
        </p:nvSpPr>
        <p:spPr>
          <a:xfrm>
            <a:off x="365760" y="91440"/>
            <a:ext cx="841248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Future Enhancements</a:t>
            </a:r>
            <a:endParaRPr lang="en-US" sz="2200" dirty="0"/>
          </a:p>
        </p:txBody>
      </p:sp>
      <p:sp>
        <p:nvSpPr>
          <p:cNvPr id="5" name="Shape 3"/>
          <p:cNvSpPr/>
          <p:nvPr/>
        </p:nvSpPr>
        <p:spPr>
          <a:xfrm>
            <a:off x="274320" y="868680"/>
            <a:ext cx="2743200" cy="1737360"/>
          </a:xfrm>
          <a:prstGeom prst="rect">
            <a:avLst/>
          </a:prstGeom>
          <a:solidFill>
            <a:srgbClr val="3A2070"/>
          </a:solidFill>
          <a:ln w="12700">
            <a:solidFill>
              <a:srgbClr val="F0956A"/>
            </a:solidFill>
            <a:prstDash val="solid"/>
          </a:ln>
          <a:effectLst>
            <a:outerShdw blurRad="101600" dist="38100" dir="8100000" algn="bl" rotWithShape="0">
              <a:srgbClr val="000000">
                <a:alpha val="15000"/>
              </a:srgbClr>
            </a:outerShdw>
          </a:effectLst>
        </p:spPr>
      </p:sp>
      <p:sp>
        <p:nvSpPr>
          <p:cNvPr id="6" name="Shape 4"/>
          <p:cNvSpPr/>
          <p:nvPr/>
        </p:nvSpPr>
        <p:spPr>
          <a:xfrm>
            <a:off x="384048" y="1005840"/>
            <a:ext cx="502920" cy="502920"/>
          </a:xfrm>
          <a:prstGeom prst="ellipse">
            <a:avLst/>
          </a:prstGeom>
          <a:solidFill>
            <a:srgbClr val="E07B39"/>
          </a:solidFill>
          <a:ln w="12700">
            <a:solidFill>
              <a:srgbClr val="E07B39"/>
            </a:solidFill>
            <a:prstDash val="solid"/>
          </a:ln>
        </p:spPr>
      </p:sp>
      <p:sp>
        <p:nvSpPr>
          <p:cNvPr id="7" name="Text 5"/>
          <p:cNvSpPr/>
          <p:nvPr/>
        </p:nvSpPr>
        <p:spPr>
          <a:xfrm>
            <a:off x="384048" y="100584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960120" y="1033272"/>
            <a:ext cx="192024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Live Data Integration</a:t>
            </a:r>
            <a:endParaRPr lang="en-US" sz="1200" dirty="0"/>
          </a:p>
        </p:txBody>
      </p:sp>
      <p:sp>
        <p:nvSpPr>
          <p:cNvPr id="9" name="Text 7"/>
          <p:cNvSpPr/>
          <p:nvPr/>
        </p:nvSpPr>
        <p:spPr>
          <a:xfrm>
            <a:off x="411480" y="1554480"/>
            <a:ext cx="2468880" cy="914400"/>
          </a:xfrm>
          <a:prstGeom prst="rect">
            <a:avLst/>
          </a:prstGeom>
          <a:noFill/>
          <a:ln/>
        </p:spPr>
        <p:txBody>
          <a:bodyPr wrap="square" rtlCol="0" anchor="ctr"/>
          <a:lstStyle/>
          <a:p>
            <a:pPr marL="0" indent="0">
              <a:buNone/>
            </a:pPr>
            <a:r>
              <a:rPr lang="en-US" sz="1050" dirty="0">
                <a:solidFill>
                  <a:srgbClr val="E8E0F0"/>
                </a:solidFill>
                <a:latin typeface="Calibri" pitchFamily="34" charset="0"/>
                <a:ea typeface="Calibri" pitchFamily="34" charset="-122"/>
                <a:cs typeface="Calibri" pitchFamily="34" charset="-120"/>
              </a:rPr>
              <a:t>Connect to NCRB real-time data feeds for up-to-date crime reporting</a:t>
            </a:r>
            <a:endParaRPr lang="en-US" sz="1050" dirty="0"/>
          </a:p>
        </p:txBody>
      </p:sp>
      <p:sp>
        <p:nvSpPr>
          <p:cNvPr id="10" name="Shape 8"/>
          <p:cNvSpPr/>
          <p:nvPr/>
        </p:nvSpPr>
        <p:spPr>
          <a:xfrm>
            <a:off x="3218688" y="868680"/>
            <a:ext cx="2743200" cy="1737360"/>
          </a:xfrm>
          <a:prstGeom prst="rect">
            <a:avLst/>
          </a:prstGeom>
          <a:solidFill>
            <a:srgbClr val="3A2070"/>
          </a:solidFill>
          <a:ln w="12700">
            <a:solidFill>
              <a:srgbClr val="F0956A"/>
            </a:solidFill>
            <a:prstDash val="solid"/>
          </a:ln>
          <a:effectLst>
            <a:outerShdw blurRad="101600" dist="38100" dir="8100000" algn="bl" rotWithShape="0">
              <a:srgbClr val="000000">
                <a:alpha val="15000"/>
              </a:srgbClr>
            </a:outerShdw>
          </a:effectLst>
        </p:spPr>
      </p:sp>
      <p:sp>
        <p:nvSpPr>
          <p:cNvPr id="11" name="Shape 9"/>
          <p:cNvSpPr/>
          <p:nvPr/>
        </p:nvSpPr>
        <p:spPr>
          <a:xfrm>
            <a:off x="3328416" y="1005840"/>
            <a:ext cx="502920" cy="502920"/>
          </a:xfrm>
          <a:prstGeom prst="ellipse">
            <a:avLst/>
          </a:prstGeom>
          <a:solidFill>
            <a:srgbClr val="E07B39"/>
          </a:solidFill>
          <a:ln w="12700">
            <a:solidFill>
              <a:srgbClr val="E07B39"/>
            </a:solidFill>
            <a:prstDash val="solid"/>
          </a:ln>
        </p:spPr>
      </p:sp>
      <p:sp>
        <p:nvSpPr>
          <p:cNvPr id="12" name="Text 10"/>
          <p:cNvSpPr/>
          <p:nvPr/>
        </p:nvSpPr>
        <p:spPr>
          <a:xfrm>
            <a:off x="3328416" y="100584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3" name="Text 11"/>
          <p:cNvSpPr/>
          <p:nvPr/>
        </p:nvSpPr>
        <p:spPr>
          <a:xfrm>
            <a:off x="3904488" y="1033272"/>
            <a:ext cx="192024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Predictive Analytics</a:t>
            </a:r>
            <a:endParaRPr lang="en-US" sz="1200" dirty="0"/>
          </a:p>
        </p:txBody>
      </p:sp>
      <p:sp>
        <p:nvSpPr>
          <p:cNvPr id="14" name="Text 12"/>
          <p:cNvSpPr/>
          <p:nvPr/>
        </p:nvSpPr>
        <p:spPr>
          <a:xfrm>
            <a:off x="3355848" y="1554480"/>
            <a:ext cx="2468880" cy="914400"/>
          </a:xfrm>
          <a:prstGeom prst="rect">
            <a:avLst/>
          </a:prstGeom>
          <a:noFill/>
          <a:ln/>
        </p:spPr>
        <p:txBody>
          <a:bodyPr wrap="square" rtlCol="0" anchor="ctr"/>
          <a:lstStyle/>
          <a:p>
            <a:pPr marL="0" indent="0">
              <a:buNone/>
            </a:pPr>
            <a:r>
              <a:rPr lang="en-US" sz="1050" dirty="0">
                <a:solidFill>
                  <a:srgbClr val="E8E0F0"/>
                </a:solidFill>
                <a:latin typeface="Calibri" pitchFamily="34" charset="0"/>
                <a:ea typeface="Calibri" pitchFamily="34" charset="-122"/>
                <a:cs typeface="Calibri" pitchFamily="34" charset="-120"/>
              </a:rPr>
              <a:t>Build ML models to forecast crime trends and identify high-risk zones</a:t>
            </a:r>
            <a:endParaRPr lang="en-US" sz="1050" dirty="0"/>
          </a:p>
        </p:txBody>
      </p:sp>
      <p:sp>
        <p:nvSpPr>
          <p:cNvPr id="15" name="Shape 13"/>
          <p:cNvSpPr/>
          <p:nvPr/>
        </p:nvSpPr>
        <p:spPr>
          <a:xfrm>
            <a:off x="6163056" y="868680"/>
            <a:ext cx="2743200" cy="1737360"/>
          </a:xfrm>
          <a:prstGeom prst="rect">
            <a:avLst/>
          </a:prstGeom>
          <a:solidFill>
            <a:srgbClr val="3A2070"/>
          </a:solidFill>
          <a:ln w="12700">
            <a:solidFill>
              <a:srgbClr val="F0956A"/>
            </a:solidFill>
            <a:prstDash val="solid"/>
          </a:ln>
          <a:effectLst>
            <a:outerShdw blurRad="101600" dist="38100" dir="8100000" algn="bl" rotWithShape="0">
              <a:srgbClr val="000000">
                <a:alpha val="15000"/>
              </a:srgbClr>
            </a:outerShdw>
          </a:effectLst>
        </p:spPr>
      </p:sp>
      <p:sp>
        <p:nvSpPr>
          <p:cNvPr id="16" name="Shape 14"/>
          <p:cNvSpPr/>
          <p:nvPr/>
        </p:nvSpPr>
        <p:spPr>
          <a:xfrm>
            <a:off x="6272784" y="1005840"/>
            <a:ext cx="502920" cy="502920"/>
          </a:xfrm>
          <a:prstGeom prst="ellipse">
            <a:avLst/>
          </a:prstGeom>
          <a:solidFill>
            <a:srgbClr val="E07B39"/>
          </a:solidFill>
          <a:ln w="12700">
            <a:solidFill>
              <a:srgbClr val="E07B39"/>
            </a:solidFill>
            <a:prstDash val="solid"/>
          </a:ln>
        </p:spPr>
      </p:sp>
      <p:sp>
        <p:nvSpPr>
          <p:cNvPr id="17" name="Text 15"/>
          <p:cNvSpPr/>
          <p:nvPr/>
        </p:nvSpPr>
        <p:spPr>
          <a:xfrm>
            <a:off x="6272784" y="100584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8" name="Text 16"/>
          <p:cNvSpPr/>
          <p:nvPr/>
        </p:nvSpPr>
        <p:spPr>
          <a:xfrm>
            <a:off x="6848856" y="1033272"/>
            <a:ext cx="192024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Geographic Heatmaps</a:t>
            </a:r>
            <a:endParaRPr lang="en-US" sz="1200" dirty="0"/>
          </a:p>
        </p:txBody>
      </p:sp>
      <p:sp>
        <p:nvSpPr>
          <p:cNvPr id="19" name="Text 17"/>
          <p:cNvSpPr/>
          <p:nvPr/>
        </p:nvSpPr>
        <p:spPr>
          <a:xfrm>
            <a:off x="6300216" y="1554480"/>
            <a:ext cx="2468880" cy="914400"/>
          </a:xfrm>
          <a:prstGeom prst="rect">
            <a:avLst/>
          </a:prstGeom>
          <a:noFill/>
          <a:ln/>
        </p:spPr>
        <p:txBody>
          <a:bodyPr wrap="square" rtlCol="0" anchor="ctr"/>
          <a:lstStyle/>
          <a:p>
            <a:pPr marL="0" indent="0">
              <a:buNone/>
            </a:pPr>
            <a:r>
              <a:rPr lang="en-US" sz="1050" dirty="0">
                <a:solidFill>
                  <a:srgbClr val="E8E0F0"/>
                </a:solidFill>
                <a:latin typeface="Calibri" pitchFamily="34" charset="0"/>
                <a:ea typeface="Calibri" pitchFamily="34" charset="-122"/>
                <a:cs typeface="Calibri" pitchFamily="34" charset="-120"/>
              </a:rPr>
              <a:t>Visualize crime density using interactive district-level choropleth maps</a:t>
            </a:r>
            <a:endParaRPr lang="en-US" sz="1050" dirty="0"/>
          </a:p>
        </p:txBody>
      </p:sp>
      <p:sp>
        <p:nvSpPr>
          <p:cNvPr id="20" name="Shape 18"/>
          <p:cNvSpPr/>
          <p:nvPr/>
        </p:nvSpPr>
        <p:spPr>
          <a:xfrm>
            <a:off x="274320" y="2834640"/>
            <a:ext cx="2743200" cy="1737360"/>
          </a:xfrm>
          <a:prstGeom prst="rect">
            <a:avLst/>
          </a:prstGeom>
          <a:solidFill>
            <a:srgbClr val="3A2070"/>
          </a:solidFill>
          <a:ln w="12700">
            <a:solidFill>
              <a:srgbClr val="F0956A"/>
            </a:solidFill>
            <a:prstDash val="solid"/>
          </a:ln>
          <a:effectLst>
            <a:outerShdw blurRad="101600" dist="38100" dir="8100000" algn="bl" rotWithShape="0">
              <a:srgbClr val="000000">
                <a:alpha val="15000"/>
              </a:srgbClr>
            </a:outerShdw>
          </a:effectLst>
        </p:spPr>
      </p:sp>
      <p:sp>
        <p:nvSpPr>
          <p:cNvPr id="21" name="Shape 19"/>
          <p:cNvSpPr/>
          <p:nvPr/>
        </p:nvSpPr>
        <p:spPr>
          <a:xfrm>
            <a:off x="384048" y="2971800"/>
            <a:ext cx="502920" cy="502920"/>
          </a:xfrm>
          <a:prstGeom prst="ellipse">
            <a:avLst/>
          </a:prstGeom>
          <a:solidFill>
            <a:srgbClr val="E07B39"/>
          </a:solidFill>
          <a:ln w="12700">
            <a:solidFill>
              <a:srgbClr val="E07B39"/>
            </a:solidFill>
            <a:prstDash val="solid"/>
          </a:ln>
        </p:spPr>
      </p:sp>
      <p:sp>
        <p:nvSpPr>
          <p:cNvPr id="22" name="Text 20"/>
          <p:cNvSpPr/>
          <p:nvPr/>
        </p:nvSpPr>
        <p:spPr>
          <a:xfrm>
            <a:off x="384048" y="297180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3" name="Text 21"/>
          <p:cNvSpPr/>
          <p:nvPr/>
        </p:nvSpPr>
        <p:spPr>
          <a:xfrm>
            <a:off x="960120" y="2999232"/>
            <a:ext cx="192024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Demographic Analysis</a:t>
            </a:r>
            <a:endParaRPr lang="en-US" sz="1200" dirty="0"/>
          </a:p>
        </p:txBody>
      </p:sp>
      <p:sp>
        <p:nvSpPr>
          <p:cNvPr id="24" name="Text 22"/>
          <p:cNvSpPr/>
          <p:nvPr/>
        </p:nvSpPr>
        <p:spPr>
          <a:xfrm>
            <a:off x="411480" y="3520440"/>
            <a:ext cx="2468880" cy="914400"/>
          </a:xfrm>
          <a:prstGeom prst="rect">
            <a:avLst/>
          </a:prstGeom>
          <a:noFill/>
          <a:ln/>
        </p:spPr>
        <p:txBody>
          <a:bodyPr wrap="square" rtlCol="0" anchor="ctr"/>
          <a:lstStyle/>
          <a:p>
            <a:pPr marL="0" indent="0">
              <a:buNone/>
            </a:pPr>
            <a:r>
              <a:rPr lang="en-US" sz="1050" dirty="0">
                <a:solidFill>
                  <a:srgbClr val="E8E0F0"/>
                </a:solidFill>
                <a:latin typeface="Calibri" pitchFamily="34" charset="0"/>
                <a:ea typeface="Calibri" pitchFamily="34" charset="-122"/>
                <a:cs typeface="Calibri" pitchFamily="34" charset="-120"/>
              </a:rPr>
              <a:t>Correlate crime data with socioeconomic indicators like literacy and poverty</a:t>
            </a:r>
            <a:endParaRPr lang="en-US" sz="1050" dirty="0"/>
          </a:p>
        </p:txBody>
      </p:sp>
      <p:sp>
        <p:nvSpPr>
          <p:cNvPr id="25" name="Shape 23"/>
          <p:cNvSpPr/>
          <p:nvPr/>
        </p:nvSpPr>
        <p:spPr>
          <a:xfrm>
            <a:off x="3218688" y="2834640"/>
            <a:ext cx="2743200" cy="1737360"/>
          </a:xfrm>
          <a:prstGeom prst="rect">
            <a:avLst/>
          </a:prstGeom>
          <a:solidFill>
            <a:srgbClr val="3A2070"/>
          </a:solidFill>
          <a:ln w="12700">
            <a:solidFill>
              <a:srgbClr val="F0956A"/>
            </a:solidFill>
            <a:prstDash val="solid"/>
          </a:ln>
          <a:effectLst>
            <a:outerShdw blurRad="101600" dist="38100" dir="8100000" algn="bl" rotWithShape="0">
              <a:srgbClr val="000000">
                <a:alpha val="15000"/>
              </a:srgbClr>
            </a:outerShdw>
          </a:effectLst>
        </p:spPr>
      </p:sp>
      <p:sp>
        <p:nvSpPr>
          <p:cNvPr id="26" name="Shape 24"/>
          <p:cNvSpPr/>
          <p:nvPr/>
        </p:nvSpPr>
        <p:spPr>
          <a:xfrm>
            <a:off x="3328416" y="2971800"/>
            <a:ext cx="502920" cy="502920"/>
          </a:xfrm>
          <a:prstGeom prst="ellipse">
            <a:avLst/>
          </a:prstGeom>
          <a:solidFill>
            <a:srgbClr val="E07B39"/>
          </a:solidFill>
          <a:ln w="12700">
            <a:solidFill>
              <a:srgbClr val="E07B39"/>
            </a:solidFill>
            <a:prstDash val="solid"/>
          </a:ln>
        </p:spPr>
      </p:sp>
      <p:sp>
        <p:nvSpPr>
          <p:cNvPr id="27" name="Text 25"/>
          <p:cNvSpPr/>
          <p:nvPr/>
        </p:nvSpPr>
        <p:spPr>
          <a:xfrm>
            <a:off x="3328416" y="297180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8" name="Text 26"/>
          <p:cNvSpPr/>
          <p:nvPr/>
        </p:nvSpPr>
        <p:spPr>
          <a:xfrm>
            <a:off x="3904488" y="2999232"/>
            <a:ext cx="192024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Automated Alerts</a:t>
            </a:r>
            <a:endParaRPr lang="en-US" sz="1200" dirty="0"/>
          </a:p>
        </p:txBody>
      </p:sp>
      <p:sp>
        <p:nvSpPr>
          <p:cNvPr id="29" name="Text 27"/>
          <p:cNvSpPr/>
          <p:nvPr/>
        </p:nvSpPr>
        <p:spPr>
          <a:xfrm>
            <a:off x="3355848" y="3520440"/>
            <a:ext cx="2468880" cy="914400"/>
          </a:xfrm>
          <a:prstGeom prst="rect">
            <a:avLst/>
          </a:prstGeom>
          <a:noFill/>
          <a:ln/>
        </p:spPr>
        <p:txBody>
          <a:bodyPr wrap="square" rtlCol="0" anchor="ctr"/>
          <a:lstStyle/>
          <a:p>
            <a:pPr marL="0" indent="0">
              <a:buNone/>
            </a:pPr>
            <a:r>
              <a:rPr lang="en-US" sz="1050" dirty="0">
                <a:solidFill>
                  <a:srgbClr val="E8E0F0"/>
                </a:solidFill>
                <a:latin typeface="Calibri" pitchFamily="34" charset="0"/>
                <a:ea typeface="Calibri" pitchFamily="34" charset="-122"/>
                <a:cs typeface="Calibri" pitchFamily="34" charset="-120"/>
              </a:rPr>
              <a:t>Flag anomalous spikes in crime categories using statistical thresholds</a:t>
            </a:r>
            <a:endParaRPr lang="en-US" sz="1050" dirty="0"/>
          </a:p>
        </p:txBody>
      </p:sp>
      <p:sp>
        <p:nvSpPr>
          <p:cNvPr id="30" name="Shape 28"/>
          <p:cNvSpPr/>
          <p:nvPr/>
        </p:nvSpPr>
        <p:spPr>
          <a:xfrm>
            <a:off x="6163056" y="2834640"/>
            <a:ext cx="2743200" cy="1737360"/>
          </a:xfrm>
          <a:prstGeom prst="rect">
            <a:avLst/>
          </a:prstGeom>
          <a:solidFill>
            <a:srgbClr val="3A2070"/>
          </a:solidFill>
          <a:ln w="12700">
            <a:solidFill>
              <a:srgbClr val="F0956A"/>
            </a:solidFill>
            <a:prstDash val="solid"/>
          </a:ln>
          <a:effectLst>
            <a:outerShdw blurRad="101600" dist="38100" dir="8100000" algn="bl" rotWithShape="0">
              <a:srgbClr val="000000">
                <a:alpha val="15000"/>
              </a:srgbClr>
            </a:outerShdw>
          </a:effectLst>
        </p:spPr>
      </p:sp>
      <p:sp>
        <p:nvSpPr>
          <p:cNvPr id="31" name="Shape 29"/>
          <p:cNvSpPr/>
          <p:nvPr/>
        </p:nvSpPr>
        <p:spPr>
          <a:xfrm>
            <a:off x="6272784" y="2971800"/>
            <a:ext cx="502920" cy="502920"/>
          </a:xfrm>
          <a:prstGeom prst="ellipse">
            <a:avLst/>
          </a:prstGeom>
          <a:solidFill>
            <a:srgbClr val="E07B39"/>
          </a:solidFill>
          <a:ln w="12700">
            <a:solidFill>
              <a:srgbClr val="E07B39"/>
            </a:solidFill>
            <a:prstDash val="solid"/>
          </a:ln>
        </p:spPr>
      </p:sp>
      <p:sp>
        <p:nvSpPr>
          <p:cNvPr id="32" name="Text 30"/>
          <p:cNvSpPr/>
          <p:nvPr/>
        </p:nvSpPr>
        <p:spPr>
          <a:xfrm>
            <a:off x="6272784" y="297180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33" name="Text 31"/>
          <p:cNvSpPr/>
          <p:nvPr/>
        </p:nvSpPr>
        <p:spPr>
          <a:xfrm>
            <a:off x="6848856" y="2999232"/>
            <a:ext cx="192024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Sentiment Analysis</a:t>
            </a:r>
            <a:endParaRPr lang="en-US" sz="1200" dirty="0"/>
          </a:p>
        </p:txBody>
      </p:sp>
      <p:sp>
        <p:nvSpPr>
          <p:cNvPr id="34" name="Text 32"/>
          <p:cNvSpPr/>
          <p:nvPr/>
        </p:nvSpPr>
        <p:spPr>
          <a:xfrm>
            <a:off x="6300216" y="3520440"/>
            <a:ext cx="2468880" cy="914400"/>
          </a:xfrm>
          <a:prstGeom prst="rect">
            <a:avLst/>
          </a:prstGeom>
          <a:noFill/>
          <a:ln/>
        </p:spPr>
        <p:txBody>
          <a:bodyPr wrap="square" rtlCol="0" anchor="ctr"/>
          <a:lstStyle/>
          <a:p>
            <a:pPr marL="0" indent="0">
              <a:buNone/>
            </a:pPr>
            <a:r>
              <a:rPr lang="en-US" sz="1050" dirty="0">
                <a:solidFill>
                  <a:srgbClr val="E8E0F0"/>
                </a:solidFill>
                <a:latin typeface="Calibri" pitchFamily="34" charset="0"/>
                <a:ea typeface="Calibri" pitchFamily="34" charset="-122"/>
                <a:cs typeface="Calibri" pitchFamily="34" charset="-120"/>
              </a:rPr>
              <a:t>Track public safety perception via NLP on social media and news feeds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bg>
      <p:bgPr>
        <a:solidFill>
          <a:srgbClr val="2D1B5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B3FA0">
              <a:alpha val="30000"/>
            </a:srgbClr>
          </a:solidFill>
          <a:ln w="12700">
            <a:solidFill>
              <a:srgbClr val="6B3FA0">
                <a:alpha val="0"/>
              </a:srgbClr>
            </a:solidFill>
            <a:prstDash val="solid"/>
          </a:ln>
        </p:spPr>
      </p:sp>
      <p:sp>
        <p:nvSpPr>
          <p:cNvPr id="3" name="Shape 1"/>
          <p:cNvSpPr/>
          <p:nvPr/>
        </p:nvSpPr>
        <p:spPr>
          <a:xfrm>
            <a:off x="0" y="0"/>
            <a:ext cx="9144000" cy="54864"/>
          </a:xfrm>
          <a:prstGeom prst="rect">
            <a:avLst/>
          </a:prstGeom>
          <a:solidFill>
            <a:srgbClr val="E07B39"/>
          </a:solidFill>
          <a:ln w="12700">
            <a:solidFill>
              <a:srgbClr val="E07B39"/>
            </a:solidFill>
            <a:prstDash val="solid"/>
          </a:ln>
        </p:spPr>
      </p:sp>
      <p:sp>
        <p:nvSpPr>
          <p:cNvPr id="4" name="Shape 2"/>
          <p:cNvSpPr/>
          <p:nvPr/>
        </p:nvSpPr>
        <p:spPr>
          <a:xfrm>
            <a:off x="0" y="5088636"/>
            <a:ext cx="9144000" cy="54864"/>
          </a:xfrm>
          <a:prstGeom prst="rect">
            <a:avLst/>
          </a:prstGeom>
          <a:solidFill>
            <a:srgbClr val="E07B39"/>
          </a:solidFill>
          <a:ln w="12700">
            <a:solidFill>
              <a:srgbClr val="E07B39"/>
            </a:solidFill>
            <a:prstDash val="solid"/>
          </a:ln>
        </p:spPr>
      </p:sp>
      <p:sp>
        <p:nvSpPr>
          <p:cNvPr id="5" name="Text 3"/>
          <p:cNvSpPr/>
          <p:nvPr/>
        </p:nvSpPr>
        <p:spPr>
          <a:xfrm>
            <a:off x="457200" y="457200"/>
            <a:ext cx="8229600" cy="640080"/>
          </a:xfrm>
          <a:prstGeom prst="rect">
            <a:avLst/>
          </a:prstGeom>
          <a:noFill/>
          <a:ln/>
        </p:spPr>
        <p:txBody>
          <a:bodyPr wrap="square" rtlCol="0" anchor="ctr"/>
          <a:lstStyle/>
          <a:p>
            <a:pPr marL="0" indent="0" algn="ctr">
              <a:buNone/>
            </a:pPr>
            <a:r>
              <a:rPr lang="en-US" sz="3600" b="1" kern="0" spc="200" dirty="0">
                <a:solidFill>
                  <a:srgbClr val="FFFFFF"/>
                </a:solidFill>
                <a:latin typeface="Calibri" pitchFamily="34" charset="0"/>
                <a:ea typeface="Calibri" pitchFamily="34" charset="-122"/>
                <a:cs typeface="Calibri" pitchFamily="34" charset="-120"/>
              </a:rPr>
              <a:t>Conclusion</a:t>
            </a:r>
            <a:endParaRPr lang="en-US" sz="3600" dirty="0"/>
          </a:p>
        </p:txBody>
      </p:sp>
      <p:sp>
        <p:nvSpPr>
          <p:cNvPr id="6" name="Shape 4"/>
          <p:cNvSpPr/>
          <p:nvPr/>
        </p:nvSpPr>
        <p:spPr>
          <a:xfrm>
            <a:off x="2286000" y="1097280"/>
            <a:ext cx="4572000" cy="36576"/>
          </a:xfrm>
          <a:prstGeom prst="rect">
            <a:avLst/>
          </a:prstGeom>
          <a:solidFill>
            <a:srgbClr val="F0956A"/>
          </a:solidFill>
          <a:ln w="12700">
            <a:solidFill>
              <a:srgbClr val="F0956A"/>
            </a:solidFill>
            <a:prstDash val="solid"/>
          </a:ln>
        </p:spPr>
      </p:sp>
      <p:sp>
        <p:nvSpPr>
          <p:cNvPr id="7" name="Text 5"/>
          <p:cNvSpPr/>
          <p:nvPr/>
        </p:nvSpPr>
        <p:spPr>
          <a:xfrm>
            <a:off x="731520" y="1234440"/>
            <a:ext cx="7680960" cy="2926080"/>
          </a:xfrm>
          <a:prstGeom prst="rect">
            <a:avLst/>
          </a:prstGeom>
          <a:noFill/>
          <a:ln/>
        </p:spPr>
        <p:txBody>
          <a:bodyPr wrap="square" rtlCol="0" anchor="ctr"/>
          <a:lstStyle/>
          <a:p>
            <a:pPr marL="0" indent="0" algn="ctr">
              <a:buNone/>
            </a:pPr>
            <a:r>
              <a:rPr lang="en-US" sz="1400" dirty="0">
                <a:solidFill>
                  <a:srgbClr val="E8E0F0"/>
                </a:solidFill>
                <a:latin typeface="Calibri" pitchFamily="34" charset="0"/>
                <a:ea typeface="Calibri" pitchFamily="34" charset="-122"/>
                <a:cs typeface="Calibri" pitchFamily="34" charset="-120"/>
              </a:rPr>
              <a:t>The India Crime Data Dashboard (2018–2023) simplifies complex multi-state crime data, offering clear insights into crime distribution, annual trends, and state-level patterns. It helps stakeholders quickly understand regional crime hotspots, identify high-risk crime categories, and compare performance across states and years.</a:t>
            </a:r>
            <a:endParaRPr lang="en-US" sz="1400" dirty="0"/>
          </a:p>
          <a:p>
            <a:pPr marL="0" indent="0" algn="ctr">
              <a:buNone/>
            </a:pPr>
            <a:endParaRPr lang="en-US" sz="1400" dirty="0"/>
          </a:p>
          <a:p>
            <a:pPr marL="0" indent="0" algn="ctr">
              <a:buNone/>
            </a:pPr>
            <a:r>
              <a:rPr lang="en-US" sz="1400" dirty="0">
                <a:solidFill>
                  <a:srgbClr val="E8E0F0"/>
                </a:solidFill>
                <a:latin typeface="Calibri" pitchFamily="34" charset="0"/>
                <a:ea typeface="Calibri" pitchFamily="34" charset="-122"/>
                <a:cs typeface="Calibri" pitchFamily="34" charset="-120"/>
              </a:rPr>
              <a:t>With its visual clarity and comprehensive metrics, the dashboard supports informed, data-driven policy decisions. Future enhancements such as predictive modeling, geographic heatmaps, and live data integration can further elevate its analytical depth, making it an essential tool for law enforcement agencies, policymakers, and criminology researchers.</a:t>
            </a:r>
            <a:endParaRPr lang="en-US" sz="1400" dirty="0"/>
          </a:p>
        </p:txBody>
      </p:sp>
      <p:sp>
        <p:nvSpPr>
          <p:cNvPr id="8" name="Shape 6"/>
          <p:cNvSpPr/>
          <p:nvPr/>
        </p:nvSpPr>
        <p:spPr>
          <a:xfrm>
            <a:off x="914400" y="4206240"/>
            <a:ext cx="1645920" cy="685800"/>
          </a:xfrm>
          <a:prstGeom prst="rect">
            <a:avLst/>
          </a:prstGeom>
          <a:solidFill>
            <a:srgbClr val="E07B39">
              <a:alpha val="80000"/>
            </a:srgbClr>
          </a:solidFill>
          <a:ln w="12700">
            <a:solidFill>
              <a:srgbClr val="F0956A"/>
            </a:solidFill>
            <a:prstDash val="solid"/>
          </a:ln>
        </p:spPr>
      </p:sp>
      <p:sp>
        <p:nvSpPr>
          <p:cNvPr id="9" name="Text 7"/>
          <p:cNvSpPr/>
          <p:nvPr/>
        </p:nvSpPr>
        <p:spPr>
          <a:xfrm>
            <a:off x="914400" y="4224528"/>
            <a:ext cx="1645920" cy="34747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3.5M+</a:t>
            </a:r>
            <a:endParaRPr lang="en-US" sz="2000" dirty="0"/>
          </a:p>
        </p:txBody>
      </p:sp>
      <p:sp>
        <p:nvSpPr>
          <p:cNvPr id="10" name="Text 8"/>
          <p:cNvSpPr/>
          <p:nvPr/>
        </p:nvSpPr>
        <p:spPr>
          <a:xfrm>
            <a:off x="914400" y="4553712"/>
            <a:ext cx="1645920" cy="256032"/>
          </a:xfrm>
          <a:prstGeom prst="rect">
            <a:avLst/>
          </a:prstGeom>
          <a:noFill/>
          <a:ln/>
        </p:spPr>
        <p:txBody>
          <a:bodyPr wrap="square" rtlCol="0" anchor="ctr"/>
          <a:lstStyle/>
          <a:p>
            <a:pPr marL="0" indent="0" algn="ctr">
              <a:buNone/>
            </a:pPr>
            <a:r>
              <a:rPr lang="en-US" sz="1000" dirty="0">
                <a:solidFill>
                  <a:srgbClr val="F5C518"/>
                </a:solidFill>
                <a:latin typeface="Calibri" pitchFamily="34" charset="0"/>
                <a:ea typeface="Calibri" pitchFamily="34" charset="-122"/>
                <a:cs typeface="Calibri" pitchFamily="34" charset="-120"/>
              </a:rPr>
              <a:t>Total Cases</a:t>
            </a:r>
            <a:endParaRPr lang="en-US" sz="1000" dirty="0"/>
          </a:p>
        </p:txBody>
      </p:sp>
      <p:sp>
        <p:nvSpPr>
          <p:cNvPr id="11" name="Shape 9"/>
          <p:cNvSpPr/>
          <p:nvPr/>
        </p:nvSpPr>
        <p:spPr>
          <a:xfrm>
            <a:off x="2834640" y="4206240"/>
            <a:ext cx="1645920" cy="685800"/>
          </a:xfrm>
          <a:prstGeom prst="rect">
            <a:avLst/>
          </a:prstGeom>
          <a:solidFill>
            <a:srgbClr val="E07B39">
              <a:alpha val="80000"/>
            </a:srgbClr>
          </a:solidFill>
          <a:ln w="12700">
            <a:solidFill>
              <a:srgbClr val="F0956A"/>
            </a:solidFill>
            <a:prstDash val="solid"/>
          </a:ln>
        </p:spPr>
      </p:sp>
      <p:sp>
        <p:nvSpPr>
          <p:cNvPr id="12" name="Text 10"/>
          <p:cNvSpPr/>
          <p:nvPr/>
        </p:nvSpPr>
        <p:spPr>
          <a:xfrm>
            <a:off x="2834640" y="4224528"/>
            <a:ext cx="1645920" cy="34747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a:t>
            </a:r>
            <a:endParaRPr lang="en-US" sz="2000" dirty="0"/>
          </a:p>
        </p:txBody>
      </p:sp>
      <p:sp>
        <p:nvSpPr>
          <p:cNvPr id="13" name="Text 11"/>
          <p:cNvSpPr/>
          <p:nvPr/>
        </p:nvSpPr>
        <p:spPr>
          <a:xfrm>
            <a:off x="2834640" y="4553712"/>
            <a:ext cx="1645920" cy="256032"/>
          </a:xfrm>
          <a:prstGeom prst="rect">
            <a:avLst/>
          </a:prstGeom>
          <a:noFill/>
          <a:ln/>
        </p:spPr>
        <p:txBody>
          <a:bodyPr wrap="square" rtlCol="0" anchor="ctr"/>
          <a:lstStyle/>
          <a:p>
            <a:pPr marL="0" indent="0" algn="ctr">
              <a:buNone/>
            </a:pPr>
            <a:r>
              <a:rPr lang="en-US" sz="1000" dirty="0">
                <a:solidFill>
                  <a:srgbClr val="F5C518"/>
                </a:solidFill>
                <a:latin typeface="Calibri" pitchFamily="34" charset="0"/>
                <a:ea typeface="Calibri" pitchFamily="34" charset="-122"/>
                <a:cs typeface="Calibri" pitchFamily="34" charset="-120"/>
              </a:rPr>
              <a:t>States</a:t>
            </a:r>
            <a:endParaRPr lang="en-US" sz="1000" dirty="0"/>
          </a:p>
        </p:txBody>
      </p:sp>
      <p:sp>
        <p:nvSpPr>
          <p:cNvPr id="14" name="Shape 12"/>
          <p:cNvSpPr/>
          <p:nvPr/>
        </p:nvSpPr>
        <p:spPr>
          <a:xfrm>
            <a:off x="4754880" y="4206240"/>
            <a:ext cx="1645920" cy="685800"/>
          </a:xfrm>
          <a:prstGeom prst="rect">
            <a:avLst/>
          </a:prstGeom>
          <a:solidFill>
            <a:srgbClr val="E07B39">
              <a:alpha val="80000"/>
            </a:srgbClr>
          </a:solidFill>
          <a:ln w="12700">
            <a:solidFill>
              <a:srgbClr val="F0956A"/>
            </a:solidFill>
            <a:prstDash val="solid"/>
          </a:ln>
        </p:spPr>
      </p:sp>
      <p:sp>
        <p:nvSpPr>
          <p:cNvPr id="15" name="Text 13"/>
          <p:cNvSpPr/>
          <p:nvPr/>
        </p:nvSpPr>
        <p:spPr>
          <a:xfrm>
            <a:off x="4754880" y="4224528"/>
            <a:ext cx="1645920" cy="34747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16" name="Text 14"/>
          <p:cNvSpPr/>
          <p:nvPr/>
        </p:nvSpPr>
        <p:spPr>
          <a:xfrm>
            <a:off x="4754880" y="4553712"/>
            <a:ext cx="1645920" cy="256032"/>
          </a:xfrm>
          <a:prstGeom prst="rect">
            <a:avLst/>
          </a:prstGeom>
          <a:noFill/>
          <a:ln/>
        </p:spPr>
        <p:txBody>
          <a:bodyPr wrap="square" rtlCol="0" anchor="ctr"/>
          <a:lstStyle/>
          <a:p>
            <a:pPr marL="0" indent="0" algn="ctr">
              <a:buNone/>
            </a:pPr>
            <a:r>
              <a:rPr lang="en-US" sz="1000" dirty="0">
                <a:solidFill>
                  <a:srgbClr val="F5C518"/>
                </a:solidFill>
                <a:latin typeface="Calibri" pitchFamily="34" charset="0"/>
                <a:ea typeface="Calibri" pitchFamily="34" charset="-122"/>
                <a:cs typeface="Calibri" pitchFamily="34" charset="-120"/>
              </a:rPr>
              <a:t>Years</a:t>
            </a:r>
            <a:endParaRPr lang="en-US" sz="1000" dirty="0"/>
          </a:p>
        </p:txBody>
      </p:sp>
      <p:sp>
        <p:nvSpPr>
          <p:cNvPr id="17" name="Shape 15"/>
          <p:cNvSpPr/>
          <p:nvPr/>
        </p:nvSpPr>
        <p:spPr>
          <a:xfrm>
            <a:off x="6675120" y="4206240"/>
            <a:ext cx="1645920" cy="685800"/>
          </a:xfrm>
          <a:prstGeom prst="rect">
            <a:avLst/>
          </a:prstGeom>
          <a:solidFill>
            <a:srgbClr val="E07B39">
              <a:alpha val="80000"/>
            </a:srgbClr>
          </a:solidFill>
          <a:ln w="12700">
            <a:solidFill>
              <a:srgbClr val="F0956A"/>
            </a:solidFill>
            <a:prstDash val="solid"/>
          </a:ln>
        </p:spPr>
      </p:sp>
      <p:sp>
        <p:nvSpPr>
          <p:cNvPr id="18" name="Text 16"/>
          <p:cNvSpPr/>
          <p:nvPr/>
        </p:nvSpPr>
        <p:spPr>
          <a:xfrm>
            <a:off x="6675120" y="4224528"/>
            <a:ext cx="1645920" cy="34747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19" name="Text 17"/>
          <p:cNvSpPr/>
          <p:nvPr/>
        </p:nvSpPr>
        <p:spPr>
          <a:xfrm>
            <a:off x="6675120" y="4553712"/>
            <a:ext cx="1645920" cy="256032"/>
          </a:xfrm>
          <a:prstGeom prst="rect">
            <a:avLst/>
          </a:prstGeom>
          <a:noFill/>
          <a:ln/>
        </p:spPr>
        <p:txBody>
          <a:bodyPr wrap="square" rtlCol="0" anchor="ctr"/>
          <a:lstStyle/>
          <a:p>
            <a:pPr marL="0" indent="0" algn="ctr">
              <a:buNone/>
            </a:pPr>
            <a:r>
              <a:rPr lang="en-US" sz="1000" dirty="0">
                <a:solidFill>
                  <a:srgbClr val="F5C518"/>
                </a:solidFill>
                <a:latin typeface="Calibri" pitchFamily="34" charset="0"/>
                <a:ea typeface="Calibri" pitchFamily="34" charset="-122"/>
                <a:cs typeface="Calibri" pitchFamily="34" charset="-120"/>
              </a:rPr>
              <a:t>Crime Types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83</TotalTime>
  <Words>435</Words>
  <Application>Microsoft Office PowerPoint</Application>
  <PresentationFormat>On-screen Show (16:9)</PresentationFormat>
  <Paragraphs>81</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 Crime Data Dashboard 2018–2023</dc:title>
  <dc:subject>PptxGenJS Presentation</dc:subject>
  <dc:creator>PptxGenJS</dc:creator>
  <cp:lastModifiedBy>abhayg0322@gmail.com</cp:lastModifiedBy>
  <cp:revision>4</cp:revision>
  <dcterms:created xsi:type="dcterms:W3CDTF">2026-03-09T15:26:26Z</dcterms:created>
  <dcterms:modified xsi:type="dcterms:W3CDTF">2026-03-09T18:58:46Z</dcterms:modified>
</cp:coreProperties>
</file>